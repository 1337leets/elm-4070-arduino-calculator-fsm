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9" r:id="rId6"/>
    <p:sldId id="262" r:id="rId7"/>
    <p:sldId id="263" r:id="rId8"/>
    <p:sldId id="264" r:id="rId9"/>
    <p:sldId id="265" r:id="rId10"/>
    <p:sldId id="266" r:id="rId11"/>
    <p:sldId id="267" r:id="rId12"/>
    <p:sldId id="268" r:id="rId13"/>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tr-TR"/>
        </a:p>
      </c:txPr>
    </c:title>
    <c:autoTitleDeleted val="0"/>
    <c:plotArea>
      <c:layout/>
      <c:doughnutChart>
        <c:varyColors val="1"/>
        <c:ser>
          <c:idx val="0"/>
          <c:order val="0"/>
          <c:tx>
            <c:strRef>
              <c:f>Sayfa1!$B$1</c:f>
              <c:strCache>
                <c:ptCount val="1"/>
                <c:pt idx="0">
                  <c:v>Storage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65-4A12-AF09-CABF770477B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865-4A12-AF09-CABF770477B8}"/>
              </c:ext>
            </c:extLst>
          </c:dPt>
          <c:cat>
            <c:strRef>
              <c:f>Sayfa1!$A$2:$A$3</c:f>
              <c:strCache>
                <c:ptCount val="2"/>
                <c:pt idx="0">
                  <c:v>Used</c:v>
                </c:pt>
                <c:pt idx="1">
                  <c:v>Empty</c:v>
                </c:pt>
              </c:strCache>
            </c:strRef>
          </c:cat>
          <c:val>
            <c:numRef>
              <c:f>Sayfa1!$B$2:$B$3</c:f>
              <c:numCache>
                <c:formatCode>General</c:formatCode>
                <c:ptCount val="2"/>
                <c:pt idx="0">
                  <c:v>10426</c:v>
                </c:pt>
                <c:pt idx="1">
                  <c:v>21830</c:v>
                </c:pt>
              </c:numCache>
            </c:numRef>
          </c:val>
          <c:extLst>
            <c:ext xmlns:c16="http://schemas.microsoft.com/office/drawing/2014/chart" uri="{C3380CC4-5D6E-409C-BE32-E72D297353CC}">
              <c16:uniqueId val="{00000000-5EFE-439D-8291-25D96CF28640}"/>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tr-T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tr-TR"/>
        </a:p>
      </c:txPr>
    </c:title>
    <c:autoTitleDeleted val="0"/>
    <c:plotArea>
      <c:layout/>
      <c:doughnutChart>
        <c:varyColors val="1"/>
        <c:ser>
          <c:idx val="0"/>
          <c:order val="0"/>
          <c:tx>
            <c:strRef>
              <c:f>Sayfa1!$B$1</c:f>
              <c:strCache>
                <c:ptCount val="1"/>
                <c:pt idx="0">
                  <c:v>Memory</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206-4272-9329-7EC257EE37B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206-4272-9329-7EC257EE37B6}"/>
              </c:ext>
            </c:extLst>
          </c:dPt>
          <c:cat>
            <c:strRef>
              <c:f>Sayfa1!$A$2:$A$3</c:f>
              <c:strCache>
                <c:ptCount val="2"/>
                <c:pt idx="0">
                  <c:v>Used</c:v>
                </c:pt>
                <c:pt idx="1">
                  <c:v>Empty</c:v>
                </c:pt>
              </c:strCache>
            </c:strRef>
          </c:cat>
          <c:val>
            <c:numRef>
              <c:f>Sayfa1!$B$2:$B$3</c:f>
              <c:numCache>
                <c:formatCode>General</c:formatCode>
                <c:ptCount val="2"/>
                <c:pt idx="0">
                  <c:v>777</c:v>
                </c:pt>
                <c:pt idx="1">
                  <c:v>21830</c:v>
                </c:pt>
              </c:numCache>
            </c:numRef>
          </c:val>
          <c:extLst>
            <c:ext xmlns:c16="http://schemas.microsoft.com/office/drawing/2014/chart" uri="{C3380CC4-5D6E-409C-BE32-E72D297353CC}">
              <c16:uniqueId val="{00000004-5206-4272-9329-7EC257EE37B6}"/>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tr-T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tr-T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E1C1929-4F3C-9E25-EC1C-7C511ECB941C}"/>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98EC9DBF-A68B-9377-EA0C-D74428952D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4B02A10F-AFAC-0D20-EFFA-DF767A9FD577}"/>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5" name="Alt Bilgi Yer Tutucusu 4">
            <a:extLst>
              <a:ext uri="{FF2B5EF4-FFF2-40B4-BE49-F238E27FC236}">
                <a16:creationId xmlns:a16="http://schemas.microsoft.com/office/drawing/2014/main" id="{6AED926A-F529-816B-A31D-5C53E35AA1A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14AFCB8-F01B-CB20-5688-916005548C9E}"/>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585411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BF2B853-17FD-07C2-97DC-37DF61EBF18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5B70189-E0A8-DC72-53B0-8E72657197CB}"/>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F3F7025-0108-6252-E954-90F37547DFFC}"/>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5" name="Alt Bilgi Yer Tutucusu 4">
            <a:extLst>
              <a:ext uri="{FF2B5EF4-FFF2-40B4-BE49-F238E27FC236}">
                <a16:creationId xmlns:a16="http://schemas.microsoft.com/office/drawing/2014/main" id="{FA61061B-4A6A-F7D5-6EA3-A506DDD7A8B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7454F5C-FB59-C474-7A09-BBD2195F2CDD}"/>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40298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4D4BBC-F5CE-6D89-A9DC-7DAC12F18F4A}"/>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5D42DFD5-7CC9-2E9D-E1DC-11C47D7C0C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4C782335-EEEA-9C94-0FFB-82AF5CFB7E48}"/>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5" name="Alt Bilgi Yer Tutucusu 4">
            <a:extLst>
              <a:ext uri="{FF2B5EF4-FFF2-40B4-BE49-F238E27FC236}">
                <a16:creationId xmlns:a16="http://schemas.microsoft.com/office/drawing/2014/main" id="{BD77A3C0-5AE4-AFFB-9F92-060E45CED12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D11340F-C0AD-DFC6-2388-968C576D50B6}"/>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2887874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153281-726E-3239-51DF-7AA2491D32DE}"/>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682FCC08-0EE0-06F9-6F6A-F8E03C532E93}"/>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502E7575-0FB1-E8E8-829D-CDCF0D404F81}"/>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5F781A8B-D52E-0175-A388-679619F8A40B}"/>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6" name="Alt Bilgi Yer Tutucusu 5">
            <a:extLst>
              <a:ext uri="{FF2B5EF4-FFF2-40B4-BE49-F238E27FC236}">
                <a16:creationId xmlns:a16="http://schemas.microsoft.com/office/drawing/2014/main" id="{0C4D6163-BD20-445B-388A-35743E5CA31D}"/>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F7A15DAA-8612-4C12-CD63-F036C43910AC}"/>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2311196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6934BBA-541D-72CC-91EA-13A7165C1F28}"/>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D3B11135-56C2-7902-E7FC-94CA2771D7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582DF8AB-5B24-B2E8-3070-F0C923F41F19}"/>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F861108F-9476-15FB-5BBC-C793E3C9C2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58D1D80F-60E0-6A2C-D3A6-F12BB5E35753}"/>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F7609464-C63E-A18A-F7CD-AD0DD1E3B07E}"/>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8" name="Alt Bilgi Yer Tutucusu 7">
            <a:extLst>
              <a:ext uri="{FF2B5EF4-FFF2-40B4-BE49-F238E27FC236}">
                <a16:creationId xmlns:a16="http://schemas.microsoft.com/office/drawing/2014/main" id="{21EB2999-5078-0374-B436-83FCCF93444C}"/>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20E66411-12A8-8CC6-9059-558E7359B8E7}"/>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1086070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E18FE3-A8A8-4897-7C3C-26B3225D337B}"/>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FE389031-8493-963D-8092-0ACE0725588B}"/>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4" name="Alt Bilgi Yer Tutucusu 3">
            <a:extLst>
              <a:ext uri="{FF2B5EF4-FFF2-40B4-BE49-F238E27FC236}">
                <a16:creationId xmlns:a16="http://schemas.microsoft.com/office/drawing/2014/main" id="{6B85F98B-8D59-5261-247D-298CE11B5897}"/>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42322B68-C7F6-0E58-A828-F45DC0B3F1CD}"/>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3923234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99448447-DA6E-2367-5719-0FD16AF5C4A2}"/>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3" name="Alt Bilgi Yer Tutucusu 2">
            <a:extLst>
              <a:ext uri="{FF2B5EF4-FFF2-40B4-BE49-F238E27FC236}">
                <a16:creationId xmlns:a16="http://schemas.microsoft.com/office/drawing/2014/main" id="{F5CE55BD-A95F-5B4D-EDA7-54A8917A80E0}"/>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1C6D05B9-2D92-736B-25FC-8DF3D8EBC39A}"/>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3503971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6547E46-FE08-AA5B-4A3D-CAA36FAA119D}"/>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FE337703-D152-7780-AA36-CEB423EC0E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ACBC6F93-236F-31F8-4920-EA10BA377F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2CD4A2AB-7DB4-726D-1C57-9BA2A04B413D}"/>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6" name="Alt Bilgi Yer Tutucusu 5">
            <a:extLst>
              <a:ext uri="{FF2B5EF4-FFF2-40B4-BE49-F238E27FC236}">
                <a16:creationId xmlns:a16="http://schemas.microsoft.com/office/drawing/2014/main" id="{DB27ED39-11C4-C6C4-791C-6F08948FCA6F}"/>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5F9BDA39-C059-A01B-1C87-21CCAF04F39F}"/>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4022326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1F1251-61FE-7EBD-0849-5A2DEEFF66B7}"/>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DB12AAF9-181B-FF65-C02C-3DFA7517F7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E505CC17-7D3A-8AF1-04A5-2D27577571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479F931-D235-CB7B-A5AC-192E4BA6F406}"/>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6" name="Alt Bilgi Yer Tutucusu 5">
            <a:extLst>
              <a:ext uri="{FF2B5EF4-FFF2-40B4-BE49-F238E27FC236}">
                <a16:creationId xmlns:a16="http://schemas.microsoft.com/office/drawing/2014/main" id="{8FCD8833-EEB4-1B72-8751-81476F6A013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25BED120-286E-BADE-FF04-68AD36A55763}"/>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63794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71C0CA5-9933-9F1C-63FE-F9EA049D58A3}"/>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63BF9559-805B-5406-D2C8-E7905471E943}"/>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9106B3B-C2A1-8D79-B6D3-3F7286D01E5D}"/>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5" name="Alt Bilgi Yer Tutucusu 4">
            <a:extLst>
              <a:ext uri="{FF2B5EF4-FFF2-40B4-BE49-F238E27FC236}">
                <a16:creationId xmlns:a16="http://schemas.microsoft.com/office/drawing/2014/main" id="{E531283A-2BAB-29A2-CFF2-3F4198B3619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93C0309-41FA-EC2D-9CBD-48251A3A22BE}"/>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748534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ED4AD8B1-052C-F8C7-AFC0-1C9A873F86AD}"/>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6873ED2F-2161-8F27-258D-EFA11F0CA02E}"/>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AB6B5BC-74D1-FEDC-D24A-A85E906404D0}"/>
              </a:ext>
            </a:extLst>
          </p:cNvPr>
          <p:cNvSpPr>
            <a:spLocks noGrp="1"/>
          </p:cNvSpPr>
          <p:nvPr>
            <p:ph type="dt" sz="half" idx="10"/>
          </p:nvPr>
        </p:nvSpPr>
        <p:spPr/>
        <p:txBody>
          <a:bodyPr/>
          <a:lstStyle/>
          <a:p>
            <a:fld id="{6B900764-6E8F-4F08-96D3-A2CEDE8DFB4A}" type="datetimeFigureOut">
              <a:rPr lang="tr-TR" smtClean="0"/>
              <a:t>18.02.2026</a:t>
            </a:fld>
            <a:endParaRPr lang="tr-TR"/>
          </a:p>
        </p:txBody>
      </p:sp>
      <p:sp>
        <p:nvSpPr>
          <p:cNvPr id="5" name="Alt Bilgi Yer Tutucusu 4">
            <a:extLst>
              <a:ext uri="{FF2B5EF4-FFF2-40B4-BE49-F238E27FC236}">
                <a16:creationId xmlns:a16="http://schemas.microsoft.com/office/drawing/2014/main" id="{8733D51F-F052-1510-5A0D-FA2887F6410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2DCDE32-EB78-70C8-6659-8BD99BDEC0C8}"/>
              </a:ext>
            </a:extLst>
          </p:cNvPr>
          <p:cNvSpPr>
            <a:spLocks noGrp="1"/>
          </p:cNvSpPr>
          <p:nvPr>
            <p:ph type="sldNum" sz="quarter" idx="12"/>
          </p:nvPr>
        </p:nvSpPr>
        <p:spPr/>
        <p:txBody>
          <a:bodyPr/>
          <a:lstStyle/>
          <a:p>
            <a:fld id="{CA861F7A-C96D-430A-A6AB-D5A4095E8FC0}" type="slidenum">
              <a:rPr lang="tr-TR" smtClean="0"/>
              <a:t>‹#›</a:t>
            </a:fld>
            <a:endParaRPr lang="tr-TR"/>
          </a:p>
        </p:txBody>
      </p:sp>
    </p:spTree>
    <p:extLst>
      <p:ext uri="{BB962C8B-B14F-4D97-AF65-F5344CB8AC3E}">
        <p14:creationId xmlns:p14="http://schemas.microsoft.com/office/powerpoint/2010/main" val="2150306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7A6F2CD5-A47E-1F9D-8D46-AE269D10A6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DE6839F8-001B-621B-2937-C34C2EB78F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BD21E73-4B25-9CEE-14D9-7B899760B0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900764-6E8F-4F08-96D3-A2CEDE8DFB4A}" type="datetimeFigureOut">
              <a:rPr lang="tr-TR" smtClean="0"/>
              <a:t>18.02.2026</a:t>
            </a:fld>
            <a:endParaRPr lang="tr-TR"/>
          </a:p>
        </p:txBody>
      </p:sp>
      <p:sp>
        <p:nvSpPr>
          <p:cNvPr id="5" name="Alt Bilgi Yer Tutucusu 4">
            <a:extLst>
              <a:ext uri="{FF2B5EF4-FFF2-40B4-BE49-F238E27FC236}">
                <a16:creationId xmlns:a16="http://schemas.microsoft.com/office/drawing/2014/main" id="{150DD8B4-99E3-9605-FD6A-774DD0889D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43E8F428-939E-E56C-B3F7-42F436EDBA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861F7A-C96D-430A-A6AB-D5A4095E8FC0}" type="slidenum">
              <a:rPr lang="tr-TR" smtClean="0"/>
              <a:t>‹#›</a:t>
            </a:fld>
            <a:endParaRPr lang="tr-TR"/>
          </a:p>
        </p:txBody>
      </p:sp>
    </p:spTree>
    <p:extLst>
      <p:ext uri="{BB962C8B-B14F-4D97-AF65-F5344CB8AC3E}">
        <p14:creationId xmlns:p14="http://schemas.microsoft.com/office/powerpoint/2010/main" val="1069022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Resim 8" descr="daire, simge, sembol, amblem, logo içeren bir resim&#10;&#10;Yapay zeka tarafından oluşturulmuş içerik yanlış olabilir.">
            <a:extLst>
              <a:ext uri="{FF2B5EF4-FFF2-40B4-BE49-F238E27FC236}">
                <a16:creationId xmlns:a16="http://schemas.microsoft.com/office/drawing/2014/main" id="{17430F49-AEB4-3260-1438-3E74597814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1739" y="0"/>
            <a:ext cx="2614154" cy="2469326"/>
          </a:xfrm>
          <a:prstGeom prst="rect">
            <a:avLst/>
          </a:prstGeom>
        </p:spPr>
      </p:pic>
      <p:sp>
        <p:nvSpPr>
          <p:cNvPr id="10" name="Metin kutusu 9">
            <a:extLst>
              <a:ext uri="{FF2B5EF4-FFF2-40B4-BE49-F238E27FC236}">
                <a16:creationId xmlns:a16="http://schemas.microsoft.com/office/drawing/2014/main" id="{B22DF428-7D39-AFE4-8AE9-E460FF40B858}"/>
              </a:ext>
            </a:extLst>
          </p:cNvPr>
          <p:cNvSpPr txBox="1"/>
          <p:nvPr/>
        </p:nvSpPr>
        <p:spPr>
          <a:xfrm>
            <a:off x="3680785" y="3108619"/>
            <a:ext cx="4574742" cy="2062103"/>
          </a:xfrm>
          <a:prstGeom prst="rect">
            <a:avLst/>
          </a:prstGeom>
          <a:noFill/>
        </p:spPr>
        <p:txBody>
          <a:bodyPr wrap="square" rtlCol="0">
            <a:spAutoFit/>
          </a:bodyPr>
          <a:lstStyle/>
          <a:p>
            <a:r>
              <a:rPr lang="tr-TR" sz="2000" b="1" dirty="0"/>
              <a:t>PROJECT PARTICIPANTS</a:t>
            </a:r>
            <a:br>
              <a:rPr lang="tr-TR" sz="2000" dirty="0"/>
            </a:br>
            <a:br>
              <a:rPr lang="tr-TR" dirty="0"/>
            </a:br>
            <a:r>
              <a:rPr lang="tr-TR" dirty="0"/>
              <a:t>      23012613 – KEREM ARSLAN</a:t>
            </a:r>
            <a:br>
              <a:rPr lang="tr-TR" dirty="0"/>
            </a:br>
            <a:r>
              <a:rPr lang="tr-TR" dirty="0"/>
              <a:t>      23012008 – MEHMET FATİH TÜRKYILMAZ</a:t>
            </a:r>
            <a:br>
              <a:rPr lang="tr-TR" dirty="0"/>
            </a:br>
            <a:r>
              <a:rPr lang="tr-TR" dirty="0"/>
              <a:t>      23012082 – KEREM ÖNOL </a:t>
            </a:r>
            <a:br>
              <a:rPr lang="tr-TR" dirty="0"/>
            </a:br>
            <a:r>
              <a:rPr lang="tr-TR" dirty="0"/>
              <a:t>      23012109 – BURAK KÜRKLÜ</a:t>
            </a:r>
            <a:br>
              <a:rPr lang="tr-TR" dirty="0"/>
            </a:br>
            <a:r>
              <a:rPr lang="tr-TR" dirty="0"/>
              <a:t>      23012108 – SAMET ERHAN SARI </a:t>
            </a:r>
          </a:p>
        </p:txBody>
      </p:sp>
      <p:pic>
        <p:nvPicPr>
          <p:cNvPr id="12" name="Grafik 11" descr="Rozet 1 düz dolguyla">
            <a:extLst>
              <a:ext uri="{FF2B5EF4-FFF2-40B4-BE49-F238E27FC236}">
                <a16:creationId xmlns:a16="http://schemas.microsoft.com/office/drawing/2014/main" id="{8B4A1958-BE55-5A42-D666-3BF648EA61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07881" y="3727208"/>
            <a:ext cx="305583" cy="305583"/>
          </a:xfrm>
          <a:prstGeom prst="rect">
            <a:avLst/>
          </a:prstGeom>
        </p:spPr>
      </p:pic>
      <p:pic>
        <p:nvPicPr>
          <p:cNvPr id="14" name="Grafik 13" descr="Rozet düz dolguyla">
            <a:extLst>
              <a:ext uri="{FF2B5EF4-FFF2-40B4-BE49-F238E27FC236}">
                <a16:creationId xmlns:a16="http://schemas.microsoft.com/office/drawing/2014/main" id="{6FAD3A9C-256B-53DB-D895-DFF66504B2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11776" y="3989870"/>
            <a:ext cx="305583" cy="305583"/>
          </a:xfrm>
          <a:prstGeom prst="rect">
            <a:avLst/>
          </a:prstGeom>
        </p:spPr>
      </p:pic>
      <p:pic>
        <p:nvPicPr>
          <p:cNvPr id="16" name="Grafik 15" descr="Rozet 3 düz dolguyla">
            <a:extLst>
              <a:ext uri="{FF2B5EF4-FFF2-40B4-BE49-F238E27FC236}">
                <a16:creationId xmlns:a16="http://schemas.microsoft.com/office/drawing/2014/main" id="{B9CD41F8-AE2B-D30E-E3FF-55DD90F820F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07881" y="4262499"/>
            <a:ext cx="305583" cy="305583"/>
          </a:xfrm>
          <a:prstGeom prst="rect">
            <a:avLst/>
          </a:prstGeom>
        </p:spPr>
      </p:pic>
      <p:pic>
        <p:nvPicPr>
          <p:cNvPr id="18" name="Grafik 17" descr="Rozet 4 düz dolguyla">
            <a:extLst>
              <a:ext uri="{FF2B5EF4-FFF2-40B4-BE49-F238E27FC236}">
                <a16:creationId xmlns:a16="http://schemas.microsoft.com/office/drawing/2014/main" id="{EA47FDB9-2EAA-4F58-4FCB-EC787C2E95D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709929" y="4534793"/>
            <a:ext cx="301485" cy="301485"/>
          </a:xfrm>
          <a:prstGeom prst="rect">
            <a:avLst/>
          </a:prstGeom>
        </p:spPr>
      </p:pic>
      <p:pic>
        <p:nvPicPr>
          <p:cNvPr id="20" name="Grafik 19" descr="Rozet 5 düz dolguyla">
            <a:extLst>
              <a:ext uri="{FF2B5EF4-FFF2-40B4-BE49-F238E27FC236}">
                <a16:creationId xmlns:a16="http://schemas.microsoft.com/office/drawing/2014/main" id="{03FA4694-CAF8-7732-CB76-6A5AC61DEF2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698602" y="4790194"/>
            <a:ext cx="301485" cy="301485"/>
          </a:xfrm>
          <a:prstGeom prst="rect">
            <a:avLst/>
          </a:prstGeom>
        </p:spPr>
      </p:pic>
      <p:sp>
        <p:nvSpPr>
          <p:cNvPr id="24" name="Metin kutusu 23">
            <a:extLst>
              <a:ext uri="{FF2B5EF4-FFF2-40B4-BE49-F238E27FC236}">
                <a16:creationId xmlns:a16="http://schemas.microsoft.com/office/drawing/2014/main" id="{8177A912-68E5-8E3A-4FDF-562EA03AD0ED}"/>
              </a:ext>
            </a:extLst>
          </p:cNvPr>
          <p:cNvSpPr txBox="1"/>
          <p:nvPr/>
        </p:nvSpPr>
        <p:spPr>
          <a:xfrm>
            <a:off x="769545" y="256511"/>
            <a:ext cx="8347295" cy="2031325"/>
          </a:xfrm>
          <a:prstGeom prst="rect">
            <a:avLst/>
          </a:prstGeom>
          <a:noFill/>
        </p:spPr>
        <p:txBody>
          <a:bodyPr wrap="square" rtlCol="0">
            <a:spAutoFit/>
          </a:bodyPr>
          <a:lstStyle/>
          <a:p>
            <a:pPr algn="ctr"/>
            <a:r>
              <a:rPr lang="tr-TR" sz="3600" b="1" dirty="0"/>
              <a:t>2025-2026 FALL SEMESTER </a:t>
            </a:r>
            <a:br>
              <a:rPr lang="tr-TR" sz="3600" b="1" dirty="0"/>
            </a:br>
            <a:r>
              <a:rPr lang="tr-TR" sz="3600" b="1" dirty="0">
                <a:ea typeface="+mn-lt"/>
                <a:cs typeface="+mn-lt"/>
              </a:rPr>
              <a:t>MICROCONTROLLER BASED SYSTEM DESIGN GROUP PROJECT</a:t>
            </a:r>
            <a:endParaRPr lang="tr-TR" sz="3600" b="1" dirty="0"/>
          </a:p>
          <a:p>
            <a:endParaRPr lang="tr-TR" dirty="0"/>
          </a:p>
        </p:txBody>
      </p:sp>
      <p:sp>
        <p:nvSpPr>
          <p:cNvPr id="26" name="Metin kutusu 25">
            <a:extLst>
              <a:ext uri="{FF2B5EF4-FFF2-40B4-BE49-F238E27FC236}">
                <a16:creationId xmlns:a16="http://schemas.microsoft.com/office/drawing/2014/main" id="{56B773B1-397E-CA99-3E2B-86DCC6B44496}"/>
              </a:ext>
            </a:extLst>
          </p:cNvPr>
          <p:cNvSpPr txBox="1"/>
          <p:nvPr/>
        </p:nvSpPr>
        <p:spPr>
          <a:xfrm>
            <a:off x="-430040" y="2256665"/>
            <a:ext cx="10746463" cy="461665"/>
          </a:xfrm>
          <a:prstGeom prst="rect">
            <a:avLst/>
          </a:prstGeom>
          <a:noFill/>
        </p:spPr>
        <p:txBody>
          <a:bodyPr wrap="square" rtlCol="0">
            <a:spAutoFit/>
          </a:bodyPr>
          <a:lstStyle/>
          <a:p>
            <a:pPr algn="ctr"/>
            <a:r>
              <a:rPr lang="tr-TR" sz="2400" b="1" dirty="0"/>
              <a:t>ARDUINO CALCULATOR WITH KEYPAD </a:t>
            </a:r>
            <a:endParaRPr lang="tr-TR" sz="2200" b="1" dirty="0"/>
          </a:p>
        </p:txBody>
      </p:sp>
      <p:sp>
        <p:nvSpPr>
          <p:cNvPr id="27" name="Metin kutusu 26">
            <a:extLst>
              <a:ext uri="{FF2B5EF4-FFF2-40B4-BE49-F238E27FC236}">
                <a16:creationId xmlns:a16="http://schemas.microsoft.com/office/drawing/2014/main" id="{7868AD5D-7D3A-718A-BDFA-727FF3FD668F}"/>
              </a:ext>
            </a:extLst>
          </p:cNvPr>
          <p:cNvSpPr txBox="1"/>
          <p:nvPr/>
        </p:nvSpPr>
        <p:spPr>
          <a:xfrm>
            <a:off x="3056916" y="5576918"/>
            <a:ext cx="6078167" cy="400110"/>
          </a:xfrm>
          <a:prstGeom prst="rect">
            <a:avLst/>
          </a:prstGeom>
          <a:noFill/>
        </p:spPr>
        <p:txBody>
          <a:bodyPr wrap="square" rtlCol="0">
            <a:spAutoFit/>
          </a:bodyPr>
          <a:lstStyle/>
          <a:p>
            <a:r>
              <a:rPr lang="tr-TR" sz="2000" b="1" dirty="0"/>
              <a:t>INSTRUCTOR: </a:t>
            </a:r>
            <a:r>
              <a:rPr lang="tr-TR" sz="2000" dirty="0" err="1"/>
              <a:t>Doç.Dr</a:t>
            </a:r>
            <a:r>
              <a:rPr lang="tr-TR" sz="2000" dirty="0"/>
              <a:t>. Selin ÖZÇIRA ÖZKILIÇ</a:t>
            </a:r>
          </a:p>
        </p:txBody>
      </p:sp>
    </p:spTree>
    <p:extLst>
      <p:ext uri="{BB962C8B-B14F-4D97-AF65-F5344CB8AC3E}">
        <p14:creationId xmlns:p14="http://schemas.microsoft.com/office/powerpoint/2010/main" val="2364210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02EEB075-C255-7E80-BB25-79EE2ECA2E2C}"/>
              </a:ext>
            </a:extLst>
          </p:cNvPr>
          <p:cNvSpPr txBox="1"/>
          <p:nvPr/>
        </p:nvSpPr>
        <p:spPr>
          <a:xfrm>
            <a:off x="0" y="0"/>
            <a:ext cx="11525061" cy="6555641"/>
          </a:xfrm>
          <a:prstGeom prst="rect">
            <a:avLst/>
          </a:prstGeom>
          <a:noFill/>
        </p:spPr>
        <p:txBody>
          <a:bodyPr wrap="square" rtlCol="0">
            <a:spAutoFit/>
          </a:bodyPr>
          <a:lstStyle/>
          <a:p>
            <a:pPr marL="457200" indent="-457200">
              <a:buFont typeface="Wingdings" panose="05000000000000000000" pitchFamily="2" charset="2"/>
              <a:buChar char="§"/>
            </a:pPr>
            <a:br>
              <a:rPr lang="tr-TR" sz="2800" b="1" dirty="0"/>
            </a:br>
            <a:br>
              <a:rPr lang="tr-TR" sz="2800" b="1" dirty="0"/>
            </a:br>
            <a:r>
              <a:rPr lang="tr-TR" sz="2800" b="1" dirty="0"/>
              <a:t>INTRODUCTION</a:t>
            </a:r>
            <a:br>
              <a:rPr lang="tr-TR" sz="2800" dirty="0"/>
            </a:br>
            <a:r>
              <a:rPr lang="tr-TR" sz="2800" dirty="0"/>
              <a:t>	</a:t>
            </a:r>
            <a:br>
              <a:rPr lang="tr-TR" sz="2800" dirty="0"/>
            </a:br>
            <a:r>
              <a:rPr lang="tr-TR" sz="2800" dirty="0"/>
              <a:t>	</a:t>
            </a:r>
            <a:r>
              <a:rPr lang="en-US" sz="2000" b="1" dirty="0"/>
              <a:t>Arduino-based systems</a:t>
            </a:r>
            <a:r>
              <a:rPr lang="en-US" sz="2000" dirty="0"/>
              <a:t> are widely used in embedded</a:t>
            </a:r>
            <a:br>
              <a:rPr lang="tr-TR" sz="2000" dirty="0"/>
            </a:br>
            <a:r>
              <a:rPr lang="en-US" sz="2000" dirty="0"/>
              <a:t> system applications due to their simplicity and flexibility.</a:t>
            </a:r>
            <a:br>
              <a:rPr lang="en-US" sz="2000" dirty="0"/>
            </a:br>
            <a:br>
              <a:rPr lang="tr-TR" sz="2000" dirty="0"/>
            </a:br>
            <a:r>
              <a:rPr lang="tr-TR" sz="2000" dirty="0"/>
              <a:t>	</a:t>
            </a:r>
            <a:r>
              <a:rPr lang="en-US" sz="2000" dirty="0"/>
              <a:t>In this project, an </a:t>
            </a:r>
            <a:r>
              <a:rPr lang="en-US" sz="2000" b="1" dirty="0"/>
              <a:t>Arduino calculator</a:t>
            </a:r>
            <a:r>
              <a:rPr lang="en-US" sz="2000" dirty="0"/>
              <a:t> is designed using</a:t>
            </a:r>
            <a:br>
              <a:rPr lang="tr-TR" sz="2000" dirty="0"/>
            </a:br>
            <a:r>
              <a:rPr lang="en-US" sz="2000" dirty="0"/>
              <a:t> a </a:t>
            </a:r>
            <a:r>
              <a:rPr lang="en-US" sz="2000" b="1" dirty="0"/>
              <a:t>4x4 keypad</a:t>
            </a:r>
            <a:r>
              <a:rPr lang="en-US" sz="2000" dirty="0"/>
              <a:t> for input and an </a:t>
            </a:r>
            <a:r>
              <a:rPr lang="en-US" sz="2000" b="1" dirty="0"/>
              <a:t>LCD display</a:t>
            </a:r>
            <a:r>
              <a:rPr lang="en-US" sz="2000" dirty="0"/>
              <a:t> for output.</a:t>
            </a:r>
            <a:br>
              <a:rPr lang="en-US" sz="2000" dirty="0"/>
            </a:br>
            <a:br>
              <a:rPr lang="tr-TR" sz="2000" dirty="0"/>
            </a:br>
            <a:r>
              <a:rPr lang="tr-TR" sz="2000" dirty="0"/>
              <a:t>	</a:t>
            </a:r>
            <a:r>
              <a:rPr lang="en-US" sz="2000" dirty="0"/>
              <a:t>The system performs basic arithmetic operations and </a:t>
            </a:r>
            <a:br>
              <a:rPr lang="tr-TR" sz="2000" dirty="0"/>
            </a:br>
            <a:r>
              <a:rPr lang="en-US" sz="2000" dirty="0"/>
              <a:t>demonstrates the integration of hardware and software in </a:t>
            </a:r>
            <a:br>
              <a:rPr lang="tr-TR" sz="2000" dirty="0"/>
            </a:br>
            <a:r>
              <a:rPr lang="en-US" sz="2000" dirty="0"/>
              <a:t>microcontroller-based designs</a:t>
            </a:r>
            <a:r>
              <a:rPr lang="en-US" sz="2800" dirty="0"/>
              <a:t>.</a:t>
            </a:r>
            <a:br>
              <a:rPr lang="tr-TR" sz="2800" dirty="0"/>
            </a:br>
            <a:br>
              <a:rPr lang="tr-TR" sz="2800" dirty="0"/>
            </a:br>
            <a:r>
              <a:rPr lang="tr-TR" sz="2400" b="1" dirty="0"/>
              <a:t>MATERIALS WE USED: </a:t>
            </a:r>
          </a:p>
          <a:p>
            <a:pPr marL="457200" indent="-457200">
              <a:buFont typeface="Wingdings" panose="05000000000000000000" pitchFamily="2" charset="2"/>
              <a:buChar char="§"/>
            </a:pPr>
            <a:r>
              <a:rPr lang="tr-TR" sz="2000" dirty="0"/>
              <a:t>Arduino UNO R3 </a:t>
            </a:r>
          </a:p>
          <a:p>
            <a:pPr marL="457200" indent="-457200">
              <a:buFont typeface="Wingdings" panose="05000000000000000000" pitchFamily="2" charset="2"/>
              <a:buChar char="§"/>
            </a:pPr>
            <a:r>
              <a:rPr lang="en-US" sz="2000" dirty="0"/>
              <a:t>4x4 Matrix Keypad </a:t>
            </a:r>
            <a:endParaRPr lang="tr-TR" sz="2000" dirty="0"/>
          </a:p>
          <a:p>
            <a:pPr marL="457200" indent="-457200">
              <a:buFont typeface="Wingdings" panose="05000000000000000000" pitchFamily="2" charset="2"/>
              <a:buChar char="§"/>
            </a:pPr>
            <a:r>
              <a:rPr lang="en-US" sz="2000" dirty="0"/>
              <a:t>I2C 16x2 LCD Display</a:t>
            </a:r>
            <a:endParaRPr lang="tr-TR" sz="2800" dirty="0"/>
          </a:p>
        </p:txBody>
      </p:sp>
      <p:pic>
        <p:nvPicPr>
          <p:cNvPr id="11" name="Resim 10" descr="elektronik donanım, metin, elektronik mühendisliği, devre bileşeni içeren bir resim&#10;&#10;Yapay zeka tarafından oluşturulmuş içerik yanlış olabilir.">
            <a:extLst>
              <a:ext uri="{FF2B5EF4-FFF2-40B4-BE49-F238E27FC236}">
                <a16:creationId xmlns:a16="http://schemas.microsoft.com/office/drawing/2014/main" id="{C243F754-4587-0263-E53F-4B8D1B137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6471799" y="1436570"/>
            <a:ext cx="6121665" cy="3984860"/>
          </a:xfrm>
          <a:prstGeom prst="rect">
            <a:avLst/>
          </a:prstGeom>
        </p:spPr>
      </p:pic>
    </p:spTree>
    <p:extLst>
      <p:ext uri="{BB962C8B-B14F-4D97-AF65-F5344CB8AC3E}">
        <p14:creationId xmlns:p14="http://schemas.microsoft.com/office/powerpoint/2010/main" val="2002664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C6817135-3529-E26D-8381-7291655C6CA4}"/>
              </a:ext>
            </a:extLst>
          </p:cNvPr>
          <p:cNvSpPr txBox="1"/>
          <p:nvPr/>
        </p:nvSpPr>
        <p:spPr>
          <a:xfrm>
            <a:off x="419477" y="307818"/>
            <a:ext cx="11353046" cy="523220"/>
          </a:xfrm>
          <a:prstGeom prst="rect">
            <a:avLst/>
          </a:prstGeom>
          <a:noFill/>
        </p:spPr>
        <p:txBody>
          <a:bodyPr wrap="square" rtlCol="0">
            <a:spAutoFit/>
          </a:bodyPr>
          <a:lstStyle/>
          <a:p>
            <a:r>
              <a:rPr lang="tr-TR" sz="2800" b="1" dirty="0"/>
              <a:t>FRAMEWORK – SYSTEM WORKFLOW</a:t>
            </a:r>
          </a:p>
        </p:txBody>
      </p:sp>
      <p:sp>
        <p:nvSpPr>
          <p:cNvPr id="5" name="Metin kutusu 4">
            <a:extLst>
              <a:ext uri="{FF2B5EF4-FFF2-40B4-BE49-F238E27FC236}">
                <a16:creationId xmlns:a16="http://schemas.microsoft.com/office/drawing/2014/main" id="{D1F072BD-9F5D-E3DF-9FF3-7B539EBBDA22}"/>
              </a:ext>
            </a:extLst>
          </p:cNvPr>
          <p:cNvSpPr txBox="1"/>
          <p:nvPr/>
        </p:nvSpPr>
        <p:spPr>
          <a:xfrm>
            <a:off x="431548" y="2351782"/>
            <a:ext cx="5676524" cy="2154436"/>
          </a:xfrm>
          <a:prstGeom prst="rect">
            <a:avLst/>
          </a:prstGeom>
          <a:noFill/>
        </p:spPr>
        <p:txBody>
          <a:bodyPr wrap="square" rtlCol="0">
            <a:spAutoFit/>
          </a:bodyPr>
          <a:lstStyle/>
          <a:p>
            <a:r>
              <a:rPr lang="en-US" sz="2000" b="1" dirty="0"/>
              <a:t>1. User Input</a:t>
            </a:r>
          </a:p>
          <a:p>
            <a:pPr marL="400050" indent="-400050">
              <a:buFont typeface="+mj-lt"/>
              <a:buAutoNum type="romanUcPeriod"/>
            </a:pPr>
            <a:br>
              <a:rPr lang="tr-TR" sz="1600" dirty="0"/>
            </a:br>
            <a:r>
              <a:rPr lang="en-US" sz="1600" dirty="0"/>
              <a:t>The user enters numbers and arithmetic operators using a 4x4 keypad</a:t>
            </a:r>
          </a:p>
          <a:p>
            <a:pPr marL="400050" indent="-400050">
              <a:buFont typeface="+mj-lt"/>
              <a:buAutoNum type="romanUcPeriod"/>
            </a:pPr>
            <a:br>
              <a:rPr lang="tr-TR" sz="1600" dirty="0"/>
            </a:br>
            <a:r>
              <a:rPr lang="en-US" sz="1600" dirty="0"/>
              <a:t>Each key press is detected and transferred to the Arduino for processing</a:t>
            </a:r>
          </a:p>
          <a:p>
            <a:endParaRPr lang="tr-TR" dirty="0"/>
          </a:p>
        </p:txBody>
      </p:sp>
      <p:sp>
        <p:nvSpPr>
          <p:cNvPr id="6" name="Metin kutusu 5">
            <a:extLst>
              <a:ext uri="{FF2B5EF4-FFF2-40B4-BE49-F238E27FC236}">
                <a16:creationId xmlns:a16="http://schemas.microsoft.com/office/drawing/2014/main" id="{FB9407C5-ED3D-C746-14DF-D1A3B4C628E6}"/>
              </a:ext>
            </a:extLst>
          </p:cNvPr>
          <p:cNvSpPr txBox="1"/>
          <p:nvPr/>
        </p:nvSpPr>
        <p:spPr>
          <a:xfrm>
            <a:off x="6083928" y="2476485"/>
            <a:ext cx="5676523" cy="1877437"/>
          </a:xfrm>
          <a:prstGeom prst="rect">
            <a:avLst/>
          </a:prstGeom>
          <a:noFill/>
        </p:spPr>
        <p:txBody>
          <a:bodyPr wrap="square" rtlCol="0">
            <a:spAutoFit/>
          </a:bodyPr>
          <a:lstStyle/>
          <a:p>
            <a:r>
              <a:rPr lang="en-US" sz="2000" b="1" dirty="0"/>
              <a:t>2. Expression Formation</a:t>
            </a:r>
          </a:p>
          <a:p>
            <a:pPr marL="400050" indent="-400050">
              <a:buFont typeface="+mj-lt"/>
              <a:buAutoNum type="romanUcPeriod"/>
            </a:pPr>
            <a:br>
              <a:rPr lang="tr-TR" sz="1600" dirty="0"/>
            </a:br>
            <a:r>
              <a:rPr lang="en-US" sz="1600" dirty="0"/>
              <a:t>Input characters are stored sequentially as a mathematical expression</a:t>
            </a:r>
          </a:p>
          <a:p>
            <a:pPr marL="400050" indent="-400050">
              <a:buFont typeface="+mj-lt"/>
              <a:buAutoNum type="romanUcPeriod"/>
            </a:pPr>
            <a:br>
              <a:rPr lang="tr-TR" sz="1600" dirty="0"/>
            </a:br>
            <a:r>
              <a:rPr lang="en-US" sz="1600" dirty="0"/>
              <a:t>The expression is updated in real time and shown on the LCD</a:t>
            </a:r>
          </a:p>
        </p:txBody>
      </p:sp>
      <p:sp>
        <p:nvSpPr>
          <p:cNvPr id="7" name="Metin kutusu 6">
            <a:extLst>
              <a:ext uri="{FF2B5EF4-FFF2-40B4-BE49-F238E27FC236}">
                <a16:creationId xmlns:a16="http://schemas.microsoft.com/office/drawing/2014/main" id="{B58F326E-E71F-2895-31E2-1DBD8EE475EC}"/>
              </a:ext>
            </a:extLst>
          </p:cNvPr>
          <p:cNvSpPr txBox="1"/>
          <p:nvPr/>
        </p:nvSpPr>
        <p:spPr>
          <a:xfrm>
            <a:off x="407406" y="4365671"/>
            <a:ext cx="5676523" cy="2369880"/>
          </a:xfrm>
          <a:prstGeom prst="rect">
            <a:avLst/>
          </a:prstGeom>
          <a:noFill/>
        </p:spPr>
        <p:txBody>
          <a:bodyPr wrap="square" rtlCol="0">
            <a:spAutoFit/>
          </a:bodyPr>
          <a:lstStyle/>
          <a:p>
            <a:r>
              <a:rPr lang="en-US" sz="2000" b="1" dirty="0"/>
              <a:t>3. Processing and Calculation</a:t>
            </a:r>
          </a:p>
          <a:p>
            <a:pPr marL="400050" indent="-400050">
              <a:buFont typeface="+mj-lt"/>
              <a:buAutoNum type="romanUcPeriod"/>
            </a:pPr>
            <a:br>
              <a:rPr lang="tr-TR" sz="1600" dirty="0"/>
            </a:br>
            <a:r>
              <a:rPr lang="en-US" sz="1600" dirty="0"/>
              <a:t>The Arduino parses the expression stored in memory</a:t>
            </a:r>
          </a:p>
          <a:p>
            <a:pPr marL="400050" indent="-400050">
              <a:buFont typeface="+mj-lt"/>
              <a:buAutoNum type="romanUcPeriod"/>
            </a:pPr>
            <a:br>
              <a:rPr lang="tr-TR" sz="1600" dirty="0"/>
            </a:br>
            <a:r>
              <a:rPr lang="en-US" sz="1600" dirty="0"/>
              <a:t>Arithmetic operations are evaluated according to operator precedence</a:t>
            </a:r>
          </a:p>
          <a:p>
            <a:pPr marL="400050" indent="-400050">
              <a:buFont typeface="+mj-lt"/>
              <a:buAutoNum type="romanUcPeriod"/>
            </a:pPr>
            <a:br>
              <a:rPr lang="tr-TR" sz="1600" dirty="0"/>
            </a:br>
            <a:r>
              <a:rPr lang="en-US" sz="1600" dirty="0"/>
              <a:t>Special conditions such as negative numbers and division by zero are handled</a:t>
            </a:r>
          </a:p>
        </p:txBody>
      </p:sp>
      <p:sp>
        <p:nvSpPr>
          <p:cNvPr id="8" name="Metin kutusu 7">
            <a:extLst>
              <a:ext uri="{FF2B5EF4-FFF2-40B4-BE49-F238E27FC236}">
                <a16:creationId xmlns:a16="http://schemas.microsoft.com/office/drawing/2014/main" id="{1B8DD53C-63AD-3233-D48D-8D1DF819D610}"/>
              </a:ext>
            </a:extLst>
          </p:cNvPr>
          <p:cNvSpPr txBox="1"/>
          <p:nvPr/>
        </p:nvSpPr>
        <p:spPr>
          <a:xfrm>
            <a:off x="6083929" y="4381515"/>
            <a:ext cx="5676523" cy="1877437"/>
          </a:xfrm>
          <a:prstGeom prst="rect">
            <a:avLst/>
          </a:prstGeom>
          <a:noFill/>
        </p:spPr>
        <p:txBody>
          <a:bodyPr wrap="square" rtlCol="0">
            <a:spAutoFit/>
          </a:bodyPr>
          <a:lstStyle/>
          <a:p>
            <a:r>
              <a:rPr lang="en-US" sz="2000" b="1" dirty="0"/>
              <a:t>4. Output and Reset</a:t>
            </a:r>
          </a:p>
          <a:p>
            <a:pPr marL="400050" indent="-400050">
              <a:buFont typeface="+mj-lt"/>
              <a:buAutoNum type="romanUcPeriod"/>
            </a:pPr>
            <a:br>
              <a:rPr lang="tr-TR" sz="1600" dirty="0"/>
            </a:br>
            <a:r>
              <a:rPr lang="en-US" sz="1600" dirty="0"/>
              <a:t>The calculated result is formatted into a readable form</a:t>
            </a:r>
          </a:p>
          <a:p>
            <a:pPr marL="400050" indent="-400050">
              <a:buFont typeface="+mj-lt"/>
              <a:buAutoNum type="romanUcPeriod"/>
            </a:pPr>
            <a:br>
              <a:rPr lang="tr-TR" sz="1600" dirty="0"/>
            </a:br>
            <a:r>
              <a:rPr lang="en-US" sz="1600" dirty="0"/>
              <a:t>The result is displayed on the LCD screen</a:t>
            </a:r>
          </a:p>
          <a:p>
            <a:pPr marL="400050" indent="-400050">
              <a:buFont typeface="+mj-lt"/>
              <a:buAutoNum type="romanUcPeriod"/>
            </a:pPr>
            <a:br>
              <a:rPr lang="tr-TR" sz="1600" dirty="0"/>
            </a:br>
            <a:r>
              <a:rPr lang="en-US" sz="1600" dirty="0"/>
              <a:t>The system is then ready for a new calculation</a:t>
            </a:r>
          </a:p>
        </p:txBody>
      </p:sp>
      <p:sp>
        <p:nvSpPr>
          <p:cNvPr id="10" name="Metin kutusu 9">
            <a:extLst>
              <a:ext uri="{FF2B5EF4-FFF2-40B4-BE49-F238E27FC236}">
                <a16:creationId xmlns:a16="http://schemas.microsoft.com/office/drawing/2014/main" id="{5816AAAE-5B1B-A972-E1D3-66F5EA52E690}"/>
              </a:ext>
            </a:extLst>
          </p:cNvPr>
          <p:cNvSpPr txBox="1"/>
          <p:nvPr/>
        </p:nvSpPr>
        <p:spPr>
          <a:xfrm>
            <a:off x="579422" y="950614"/>
            <a:ext cx="11193101" cy="923330"/>
          </a:xfrm>
          <a:prstGeom prst="rect">
            <a:avLst/>
          </a:prstGeom>
          <a:noFill/>
        </p:spPr>
        <p:txBody>
          <a:bodyPr wrap="square" rtlCol="0">
            <a:spAutoFit/>
          </a:bodyPr>
          <a:lstStyle/>
          <a:p>
            <a:r>
              <a:rPr lang="en-US" dirty="0"/>
              <a:t>The framework defines the overall operational flow of the system, describing how user inputs are processed, evaluated, and transformed into output results. It provides a high-level view of the interaction between hardware components and software logic within the Arduino-based calculator system.</a:t>
            </a:r>
          </a:p>
        </p:txBody>
      </p:sp>
    </p:spTree>
    <p:extLst>
      <p:ext uri="{BB962C8B-B14F-4D97-AF65-F5344CB8AC3E}">
        <p14:creationId xmlns:p14="http://schemas.microsoft.com/office/powerpoint/2010/main" val="3496879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A453BE17-4D10-04DB-77A1-6203C4B450B9}"/>
              </a:ext>
            </a:extLst>
          </p:cNvPr>
          <p:cNvSpPr txBox="1"/>
          <p:nvPr/>
        </p:nvSpPr>
        <p:spPr>
          <a:xfrm>
            <a:off x="521110" y="108155"/>
            <a:ext cx="11474245" cy="461665"/>
          </a:xfrm>
          <a:prstGeom prst="rect">
            <a:avLst/>
          </a:prstGeom>
          <a:noFill/>
        </p:spPr>
        <p:txBody>
          <a:bodyPr wrap="square" rtlCol="0">
            <a:spAutoFit/>
          </a:bodyPr>
          <a:lstStyle/>
          <a:p>
            <a:r>
              <a:rPr lang="tr-TR" sz="2400" b="1" dirty="0"/>
              <a:t>METHODOLOGY</a:t>
            </a:r>
            <a:endParaRPr lang="tr-TR" sz="2400" dirty="0"/>
          </a:p>
        </p:txBody>
      </p:sp>
      <p:sp>
        <p:nvSpPr>
          <p:cNvPr id="5" name="Metin kutusu 4">
            <a:extLst>
              <a:ext uri="{FF2B5EF4-FFF2-40B4-BE49-F238E27FC236}">
                <a16:creationId xmlns:a16="http://schemas.microsoft.com/office/drawing/2014/main" id="{6ABE8FAA-99F6-404C-5E9D-6937CCEFE215}"/>
              </a:ext>
            </a:extLst>
          </p:cNvPr>
          <p:cNvSpPr txBox="1"/>
          <p:nvPr/>
        </p:nvSpPr>
        <p:spPr>
          <a:xfrm>
            <a:off x="521110" y="639098"/>
            <a:ext cx="10805652" cy="6186309"/>
          </a:xfrm>
          <a:prstGeom prst="rect">
            <a:avLst/>
          </a:prstGeom>
          <a:noFill/>
        </p:spPr>
        <p:txBody>
          <a:bodyPr wrap="square" rtlCol="0">
            <a:spAutoFit/>
          </a:bodyPr>
          <a:lstStyle/>
          <a:p>
            <a:r>
              <a:rPr lang="en-US" dirty="0"/>
              <a:t>​</a:t>
            </a:r>
            <a:r>
              <a:rPr lang="en-US" b="1" dirty="0"/>
              <a:t>1-) Hardware Configuration​</a:t>
            </a:r>
            <a:endParaRPr lang="tr-TR" b="1" dirty="0"/>
          </a:p>
          <a:p>
            <a:r>
              <a:rPr lang="en-US" dirty="0"/>
              <a:t>A 4x4 Matrix Keypad is connected to digital pins for user input.​An I2C 16x2 LCD Display is integrated via the SDA and SCL pins to provide a real-time visual interface for expressions and results.</a:t>
            </a:r>
            <a:endParaRPr lang="tr-TR" dirty="0"/>
          </a:p>
          <a:p>
            <a:r>
              <a:rPr lang="en-US" dirty="0"/>
              <a:t>​</a:t>
            </a:r>
            <a:r>
              <a:rPr lang="en-US" b="1" dirty="0"/>
              <a:t>2-) Dynamic Function Mapping</a:t>
            </a:r>
            <a:endParaRPr lang="tr-TR" b="1" dirty="0"/>
          </a:p>
          <a:p>
            <a:r>
              <a:rPr lang="en-US" dirty="0"/>
              <a:t>​A Lookup Table using function pointers is established to map ASCII characters ('+', '-', '*', '/') directly to their corresponding mathematical functions (add, sub, </a:t>
            </a:r>
            <a:r>
              <a:rPr lang="en-US" dirty="0" err="1"/>
              <a:t>mul</a:t>
            </a:r>
            <a:r>
              <a:rPr lang="en-US" dirty="0"/>
              <a:t>, div). </a:t>
            </a:r>
            <a:endParaRPr lang="tr-TR" dirty="0"/>
          </a:p>
          <a:p>
            <a:r>
              <a:rPr lang="en-US" b="1" dirty="0"/>
              <a:t>3-) Expression Storage and Real-time Display</a:t>
            </a:r>
            <a:endParaRPr lang="tr-TR" b="1" dirty="0"/>
          </a:p>
          <a:p>
            <a:r>
              <a:rPr lang="en-US" dirty="0"/>
              <a:t>​User inputs are stored in a C-String (char array) buffer to allow for multi-digit numbers and multi-step expressions.​</a:t>
            </a:r>
            <a:r>
              <a:rPr lang="tr-TR" dirty="0"/>
              <a:t> </a:t>
            </a:r>
            <a:r>
              <a:rPr lang="en-US" dirty="0"/>
              <a:t>The display logic includes an automatic scrolling feature that shifts the expression to the left if it exceeds the 16-character limit of the LCD.</a:t>
            </a:r>
            <a:endParaRPr lang="tr-TR" dirty="0"/>
          </a:p>
          <a:p>
            <a:r>
              <a:rPr lang="en-US" b="1" dirty="0"/>
              <a:t>4-) Mathematical Parsing and Logic</a:t>
            </a:r>
            <a:endParaRPr lang="tr-TR" b="1" dirty="0"/>
          </a:p>
          <a:p>
            <a:r>
              <a:rPr lang="en-US" dirty="0"/>
              <a:t>​The par() function utilizes a custom parsing algorithm to handle Operator Precedence.​</a:t>
            </a:r>
            <a:r>
              <a:rPr lang="tr-TR" dirty="0"/>
              <a:t> </a:t>
            </a:r>
            <a:r>
              <a:rPr lang="en-US" dirty="0"/>
              <a:t>The system supports Unary Minus detection, allowing the calculator to process negative numbers correctly (e.g., "-5+3" or "5*-2").</a:t>
            </a:r>
            <a:endParaRPr lang="tr-TR" dirty="0"/>
          </a:p>
          <a:p>
            <a:r>
              <a:rPr lang="en-US" dirty="0"/>
              <a:t>​</a:t>
            </a:r>
            <a:r>
              <a:rPr lang="en-US" b="1" dirty="0"/>
              <a:t>5-) Result Composition and Formatting</a:t>
            </a:r>
            <a:endParaRPr lang="tr-TR" b="1" dirty="0"/>
          </a:p>
          <a:p>
            <a:r>
              <a:rPr lang="en-US" dirty="0"/>
              <a:t>​The logic automatically switches between standard decimal and Scientific Notation for very large or very small values.​</a:t>
            </a:r>
            <a:r>
              <a:rPr lang="tr-TR" dirty="0"/>
              <a:t> </a:t>
            </a:r>
            <a:r>
              <a:rPr lang="en-US" dirty="0"/>
              <a:t>Trailing zeros and unnecessary decimal points are dynamically trimmed to ensure the cleanest possible output on the screen.</a:t>
            </a:r>
            <a:endParaRPr lang="tr-TR" dirty="0"/>
          </a:p>
          <a:p>
            <a:r>
              <a:rPr lang="en-US" dirty="0"/>
              <a:t>​</a:t>
            </a:r>
            <a:r>
              <a:rPr lang="en-US" b="1" dirty="0"/>
              <a:t>6-) Calculation Flow and Chain Operations</a:t>
            </a:r>
            <a:endParaRPr lang="tr-TR" b="1" dirty="0"/>
          </a:p>
          <a:p>
            <a:r>
              <a:rPr lang="en-US" dirty="0"/>
              <a:t>The calculation key is multi-purpose and also functions as the Ans key. When pressed after an operator or at the beginning of an expression, it inserts the latest valid result, allowing chained operations without re-entering values. This approach enables seamless continuation of calculations while maintaining a clear and predictable evaluation flow.</a:t>
            </a:r>
          </a:p>
        </p:txBody>
      </p:sp>
    </p:spTree>
    <p:extLst>
      <p:ext uri="{BB962C8B-B14F-4D97-AF65-F5344CB8AC3E}">
        <p14:creationId xmlns:p14="http://schemas.microsoft.com/office/powerpoint/2010/main" val="1970780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440AA-30A4-C7EC-ACFE-1DA41A1A2334}"/>
            </a:ext>
          </a:extLst>
        </p:cNvPr>
        <p:cNvGrpSpPr/>
        <p:nvPr/>
      </p:nvGrpSpPr>
      <p:grpSpPr>
        <a:xfrm>
          <a:off x="0" y="0"/>
          <a:ext cx="0" cy="0"/>
          <a:chOff x="0" y="0"/>
          <a:chExt cx="0" cy="0"/>
        </a:xfrm>
      </p:grpSpPr>
      <p:sp>
        <p:nvSpPr>
          <p:cNvPr id="3" name="Metin kutusu 2">
            <a:extLst>
              <a:ext uri="{FF2B5EF4-FFF2-40B4-BE49-F238E27FC236}">
                <a16:creationId xmlns:a16="http://schemas.microsoft.com/office/drawing/2014/main" id="{5DC8BED5-BF16-669D-0BD0-D7EBC85566CE}"/>
              </a:ext>
            </a:extLst>
          </p:cNvPr>
          <p:cNvSpPr txBox="1"/>
          <p:nvPr/>
        </p:nvSpPr>
        <p:spPr>
          <a:xfrm>
            <a:off x="521110" y="108155"/>
            <a:ext cx="11474245" cy="461665"/>
          </a:xfrm>
          <a:prstGeom prst="rect">
            <a:avLst/>
          </a:prstGeom>
          <a:noFill/>
        </p:spPr>
        <p:txBody>
          <a:bodyPr wrap="square" rtlCol="0">
            <a:spAutoFit/>
          </a:bodyPr>
          <a:lstStyle/>
          <a:p>
            <a:r>
              <a:rPr lang="tr-TR" sz="2400" b="1" dirty="0"/>
              <a:t>FEATURE SET</a:t>
            </a:r>
            <a:endParaRPr lang="tr-TR" sz="2400" dirty="0"/>
          </a:p>
        </p:txBody>
      </p:sp>
      <p:sp>
        <p:nvSpPr>
          <p:cNvPr id="5" name="Metin kutusu 4">
            <a:extLst>
              <a:ext uri="{FF2B5EF4-FFF2-40B4-BE49-F238E27FC236}">
                <a16:creationId xmlns:a16="http://schemas.microsoft.com/office/drawing/2014/main" id="{FCAC074B-E350-C0A4-E182-C7C4882D88F4}"/>
              </a:ext>
            </a:extLst>
          </p:cNvPr>
          <p:cNvSpPr txBox="1"/>
          <p:nvPr/>
        </p:nvSpPr>
        <p:spPr>
          <a:xfrm>
            <a:off x="521110" y="639098"/>
            <a:ext cx="10805652" cy="5355312"/>
          </a:xfrm>
          <a:prstGeom prst="rect">
            <a:avLst/>
          </a:prstGeom>
          <a:noFill/>
        </p:spPr>
        <p:txBody>
          <a:bodyPr wrap="square" rtlCol="0">
            <a:spAutoFit/>
          </a:bodyPr>
          <a:lstStyle/>
          <a:p>
            <a:r>
              <a:rPr lang="en-US" dirty="0"/>
              <a:t>Beyond the core calculation logic, several additional design decisions were implemented to improve usability, robustness, and error tolerance. These features ensure that user input is handled safely and intuitively, even in edge cases, while maintaining a compact and efficient execution flow.</a:t>
            </a:r>
            <a:endParaRPr lang="tr-TR" dirty="0"/>
          </a:p>
          <a:p>
            <a:endParaRPr lang="tr-TR" dirty="0"/>
          </a:p>
          <a:p>
            <a:r>
              <a:rPr lang="en-US" dirty="0"/>
              <a:t>* Auto-adds 0 when the first key pressed is an operator (except for subtract)</a:t>
            </a:r>
          </a:p>
          <a:p>
            <a:r>
              <a:rPr lang="en-US" dirty="0"/>
              <a:t>* Allows negating numbers</a:t>
            </a:r>
          </a:p>
          <a:p>
            <a:r>
              <a:rPr lang="en-US" dirty="0"/>
              <a:t>* Replaces operators that are entered consecutively (except for subtract after divide or multiply) ("/-" and "*-" can also be replaced by a new operator)</a:t>
            </a:r>
          </a:p>
          <a:p>
            <a:r>
              <a:rPr lang="en-US" dirty="0"/>
              <a:t>* Allows the latest valid answer to be used anywhere in the expression</a:t>
            </a:r>
          </a:p>
          <a:p>
            <a:r>
              <a:rPr lang="en-US" dirty="0"/>
              <a:t>* Auto-handles the signature while adding the answer to the expression (e.g. replacing double negatives with </a:t>
            </a:r>
            <a:r>
              <a:rPr lang="tr-TR" dirty="0"/>
              <a:t>   </a:t>
            </a:r>
            <a:r>
              <a:rPr lang="en-US" dirty="0"/>
              <a:t>a plus, or replacing plus with a minus)</a:t>
            </a:r>
          </a:p>
          <a:p>
            <a:r>
              <a:rPr lang="en-US" dirty="0"/>
              <a:t>* Allows up to 64 characters in the expression, and fits the expression to the screen</a:t>
            </a:r>
          </a:p>
          <a:p>
            <a:r>
              <a:rPr lang="en-US" dirty="0"/>
              <a:t>* Shows the result in scientific notation if needed</a:t>
            </a:r>
          </a:p>
          <a:p>
            <a:r>
              <a:rPr lang="en-US" dirty="0"/>
              <a:t>* Trims the trailing zeros in the mantissa</a:t>
            </a:r>
          </a:p>
          <a:p>
            <a:r>
              <a:rPr lang="en-US" dirty="0"/>
              <a:t>* Trims the decimal point if obsolete</a:t>
            </a:r>
          </a:p>
          <a:p>
            <a:r>
              <a:rPr lang="en-US" dirty="0"/>
              <a:t>* Trims the leading zeros in the exponent</a:t>
            </a:r>
          </a:p>
          <a:p>
            <a:r>
              <a:rPr lang="en-US" dirty="0"/>
              <a:t>* Removes gaps formed during trimming</a:t>
            </a:r>
          </a:p>
          <a:p>
            <a:r>
              <a:rPr lang="en-US" dirty="0"/>
              <a:t>* ⁠Trims the trailing operators in the expression</a:t>
            </a:r>
          </a:p>
          <a:p>
            <a:r>
              <a:rPr lang="en-US" dirty="0"/>
              <a:t>* ⁠Supports safe-divide</a:t>
            </a:r>
            <a:endParaRPr lang="tr-TR" dirty="0"/>
          </a:p>
        </p:txBody>
      </p:sp>
      <p:sp>
        <p:nvSpPr>
          <p:cNvPr id="2" name="Metin kutusu 1">
            <a:extLst>
              <a:ext uri="{FF2B5EF4-FFF2-40B4-BE49-F238E27FC236}">
                <a16:creationId xmlns:a16="http://schemas.microsoft.com/office/drawing/2014/main" id="{B3A74820-81F4-3213-E527-785E7FBD7265}"/>
              </a:ext>
            </a:extLst>
          </p:cNvPr>
          <p:cNvSpPr txBox="1"/>
          <p:nvPr/>
        </p:nvSpPr>
        <p:spPr>
          <a:xfrm>
            <a:off x="150720" y="4180950"/>
            <a:ext cx="10805652" cy="1754326"/>
          </a:xfrm>
          <a:prstGeom prst="rect">
            <a:avLst/>
          </a:prstGeom>
          <a:noFill/>
        </p:spPr>
        <p:txBody>
          <a:bodyPr wrap="square" rtlCol="0">
            <a:spAutoFit/>
          </a:bodyPr>
          <a:lstStyle/>
          <a:p>
            <a:r>
              <a:rPr lang="tr-TR" dirty="0"/>
              <a:t>       </a:t>
            </a:r>
            <a:r>
              <a:rPr lang="en-US" dirty="0"/>
              <a:t>◇</a:t>
            </a:r>
            <a:endParaRPr lang="tr-TR" dirty="0"/>
          </a:p>
          <a:p>
            <a:r>
              <a:rPr lang="tr-TR" dirty="0"/>
              <a:t>       </a:t>
            </a:r>
            <a:r>
              <a:rPr lang="en-US" dirty="0"/>
              <a:t>◇</a:t>
            </a:r>
            <a:endParaRPr lang="tr-TR" dirty="0"/>
          </a:p>
          <a:p>
            <a:r>
              <a:rPr lang="tr-TR" dirty="0"/>
              <a:t>       </a:t>
            </a:r>
            <a:r>
              <a:rPr lang="en-US" dirty="0"/>
              <a:t>◇</a:t>
            </a:r>
            <a:endParaRPr lang="tr-TR" dirty="0"/>
          </a:p>
          <a:p>
            <a:r>
              <a:rPr lang="tr-TR" dirty="0"/>
              <a:t>       </a:t>
            </a:r>
            <a:r>
              <a:rPr lang="en-US" dirty="0"/>
              <a:t>◇</a:t>
            </a:r>
            <a:endParaRPr lang="tr-TR" dirty="0"/>
          </a:p>
          <a:p>
            <a:r>
              <a:rPr lang="tr-TR" dirty="0"/>
              <a:t>       </a:t>
            </a:r>
            <a:r>
              <a:rPr lang="en-US" dirty="0"/>
              <a:t>◇</a:t>
            </a:r>
            <a:endParaRPr lang="tr-TR" dirty="0"/>
          </a:p>
          <a:p>
            <a:r>
              <a:rPr lang="tr-TR" dirty="0"/>
              <a:t>       </a:t>
            </a:r>
            <a:r>
              <a:rPr lang="en-US" dirty="0"/>
              <a:t>◇</a:t>
            </a:r>
          </a:p>
        </p:txBody>
      </p:sp>
      <p:sp>
        <p:nvSpPr>
          <p:cNvPr id="4" name="Metin kutusu 3">
            <a:extLst>
              <a:ext uri="{FF2B5EF4-FFF2-40B4-BE49-F238E27FC236}">
                <a16:creationId xmlns:a16="http://schemas.microsoft.com/office/drawing/2014/main" id="{C0D857BC-A1D2-F929-C02F-E7D010211501}"/>
              </a:ext>
            </a:extLst>
          </p:cNvPr>
          <p:cNvSpPr txBox="1"/>
          <p:nvPr/>
        </p:nvSpPr>
        <p:spPr>
          <a:xfrm>
            <a:off x="150720" y="2551837"/>
            <a:ext cx="10805652" cy="1754326"/>
          </a:xfrm>
          <a:prstGeom prst="rect">
            <a:avLst/>
          </a:prstGeom>
          <a:noFill/>
        </p:spPr>
        <p:txBody>
          <a:bodyPr wrap="square" rtlCol="0">
            <a:spAutoFit/>
          </a:bodyPr>
          <a:lstStyle/>
          <a:p>
            <a:r>
              <a:rPr lang="tr-TR" dirty="0"/>
              <a:t>       </a:t>
            </a:r>
          </a:p>
          <a:p>
            <a:r>
              <a:rPr lang="tr-TR" dirty="0"/>
              <a:t>       </a:t>
            </a:r>
            <a:r>
              <a:rPr lang="en-US" dirty="0"/>
              <a:t>◇</a:t>
            </a:r>
            <a:endParaRPr lang="tr-TR" dirty="0"/>
          </a:p>
          <a:p>
            <a:r>
              <a:rPr lang="tr-TR" dirty="0"/>
              <a:t>       </a:t>
            </a:r>
            <a:r>
              <a:rPr lang="en-US" dirty="0"/>
              <a:t>◇</a:t>
            </a:r>
            <a:endParaRPr lang="tr-TR" dirty="0"/>
          </a:p>
          <a:p>
            <a:r>
              <a:rPr lang="tr-TR" dirty="0"/>
              <a:t>       </a:t>
            </a:r>
          </a:p>
          <a:p>
            <a:r>
              <a:rPr lang="tr-TR" dirty="0"/>
              <a:t>       </a:t>
            </a:r>
            <a:r>
              <a:rPr lang="en-US" dirty="0"/>
              <a:t>◇</a:t>
            </a:r>
            <a:endParaRPr lang="tr-TR" dirty="0"/>
          </a:p>
          <a:p>
            <a:r>
              <a:rPr lang="tr-TR" dirty="0"/>
              <a:t>       </a:t>
            </a:r>
            <a:r>
              <a:rPr lang="en-US" dirty="0"/>
              <a:t>◇</a:t>
            </a:r>
          </a:p>
        </p:txBody>
      </p:sp>
      <p:sp>
        <p:nvSpPr>
          <p:cNvPr id="6" name="Metin kutusu 5">
            <a:extLst>
              <a:ext uri="{FF2B5EF4-FFF2-40B4-BE49-F238E27FC236}">
                <a16:creationId xmlns:a16="http://schemas.microsoft.com/office/drawing/2014/main" id="{E655E874-0E3D-B187-121E-6A16EFC6DBEB}"/>
              </a:ext>
            </a:extLst>
          </p:cNvPr>
          <p:cNvSpPr txBox="1"/>
          <p:nvPr/>
        </p:nvSpPr>
        <p:spPr>
          <a:xfrm>
            <a:off x="150720" y="1173461"/>
            <a:ext cx="10805652" cy="1754326"/>
          </a:xfrm>
          <a:prstGeom prst="rect">
            <a:avLst/>
          </a:prstGeom>
          <a:noFill/>
        </p:spPr>
        <p:txBody>
          <a:bodyPr wrap="square" rtlCol="0">
            <a:spAutoFit/>
          </a:bodyPr>
          <a:lstStyle/>
          <a:p>
            <a:r>
              <a:rPr lang="tr-TR" dirty="0"/>
              <a:t>       </a:t>
            </a:r>
          </a:p>
          <a:p>
            <a:r>
              <a:rPr lang="tr-TR" dirty="0"/>
              <a:t>       </a:t>
            </a:r>
          </a:p>
          <a:p>
            <a:r>
              <a:rPr lang="tr-TR" dirty="0"/>
              <a:t>       </a:t>
            </a:r>
            <a:r>
              <a:rPr lang="en-US" dirty="0"/>
              <a:t>◇</a:t>
            </a:r>
            <a:endParaRPr lang="tr-TR" dirty="0"/>
          </a:p>
          <a:p>
            <a:r>
              <a:rPr lang="tr-TR" dirty="0"/>
              <a:t>       </a:t>
            </a:r>
            <a:r>
              <a:rPr lang="en-US" dirty="0"/>
              <a:t>◇</a:t>
            </a:r>
            <a:endParaRPr lang="tr-TR" dirty="0"/>
          </a:p>
          <a:p>
            <a:r>
              <a:rPr lang="tr-TR" dirty="0"/>
              <a:t>       </a:t>
            </a:r>
            <a:r>
              <a:rPr lang="en-US" dirty="0"/>
              <a:t>◇</a:t>
            </a:r>
            <a:endParaRPr lang="tr-TR" dirty="0"/>
          </a:p>
          <a:p>
            <a:r>
              <a:rPr lang="tr-TR" dirty="0"/>
              <a:t>       </a:t>
            </a:r>
            <a:endParaRPr lang="en-US" dirty="0"/>
          </a:p>
        </p:txBody>
      </p:sp>
    </p:spTree>
    <p:extLst>
      <p:ext uri="{BB962C8B-B14F-4D97-AF65-F5344CB8AC3E}">
        <p14:creationId xmlns:p14="http://schemas.microsoft.com/office/powerpoint/2010/main" val="3081592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502CF477-7C3A-CDCC-7392-7232D1DE461C}"/>
              </a:ext>
            </a:extLst>
          </p:cNvPr>
          <p:cNvSpPr txBox="1"/>
          <p:nvPr/>
        </p:nvSpPr>
        <p:spPr>
          <a:xfrm>
            <a:off x="457200" y="186813"/>
            <a:ext cx="11277600" cy="461665"/>
          </a:xfrm>
          <a:prstGeom prst="rect">
            <a:avLst/>
          </a:prstGeom>
          <a:noFill/>
        </p:spPr>
        <p:txBody>
          <a:bodyPr wrap="square" rtlCol="0">
            <a:spAutoFit/>
          </a:bodyPr>
          <a:lstStyle/>
          <a:p>
            <a:r>
              <a:rPr lang="en-US" sz="2400" b="1" dirty="0"/>
              <a:t>DEFINITIONS</a:t>
            </a:r>
            <a:endParaRPr lang="tr-TR" sz="2400" dirty="0"/>
          </a:p>
        </p:txBody>
      </p:sp>
      <p:sp>
        <p:nvSpPr>
          <p:cNvPr id="3" name="Metin kutusu 2">
            <a:extLst>
              <a:ext uri="{FF2B5EF4-FFF2-40B4-BE49-F238E27FC236}">
                <a16:creationId xmlns:a16="http://schemas.microsoft.com/office/drawing/2014/main" id="{5631B814-5886-52DD-A4B7-53AC4690DEE3}"/>
              </a:ext>
            </a:extLst>
          </p:cNvPr>
          <p:cNvSpPr txBox="1"/>
          <p:nvPr/>
        </p:nvSpPr>
        <p:spPr>
          <a:xfrm>
            <a:off x="457200" y="761877"/>
            <a:ext cx="11385755" cy="5909310"/>
          </a:xfrm>
          <a:prstGeom prst="rect">
            <a:avLst/>
          </a:prstGeom>
          <a:noFill/>
        </p:spPr>
        <p:txBody>
          <a:bodyPr wrap="square" rtlCol="0">
            <a:spAutoFit/>
          </a:bodyPr>
          <a:lstStyle/>
          <a:p>
            <a:r>
              <a:rPr lang="en-US" b="1" dirty="0"/>
              <a:t>Arduino:</a:t>
            </a:r>
            <a:br>
              <a:rPr lang="en-US" dirty="0"/>
            </a:br>
            <a:r>
              <a:rPr lang="en-US" dirty="0"/>
              <a:t>An open-source microcontroller platform used to create electronic projects by integrating hardware and software.</a:t>
            </a:r>
          </a:p>
          <a:p>
            <a:r>
              <a:rPr lang="en-US" b="1" dirty="0"/>
              <a:t>Microcontroller:</a:t>
            </a:r>
            <a:br>
              <a:rPr lang="en-US" dirty="0"/>
            </a:br>
            <a:r>
              <a:rPr lang="en-US" dirty="0"/>
              <a:t>A compact integrated circuit designed to perform specific control-oriented tasks in embedded systems.</a:t>
            </a:r>
          </a:p>
          <a:p>
            <a:r>
              <a:rPr lang="en-US" b="1" dirty="0"/>
              <a:t>16x2 LCD (Liquid Crystal Display):</a:t>
            </a:r>
            <a:br>
              <a:rPr lang="en-US" dirty="0"/>
            </a:br>
            <a:r>
              <a:rPr lang="en-US" dirty="0"/>
              <a:t>A crystal display module consisting of 16 columns and 2 rows, used to visually present calculations and results.</a:t>
            </a:r>
          </a:p>
          <a:p>
            <a:r>
              <a:rPr lang="en-US" b="1" dirty="0"/>
              <a:t>I2C (Inter-Integrated Circuit):</a:t>
            </a:r>
            <a:br>
              <a:rPr lang="en-US" dirty="0"/>
            </a:br>
            <a:r>
              <a:rPr lang="en-US" dirty="0"/>
              <a:t>A serial communication protocol that allows the LCD to communicate with the Arduino using only two wires</a:t>
            </a:r>
            <a:r>
              <a:rPr lang="tr-TR" dirty="0"/>
              <a:t>.</a:t>
            </a:r>
            <a:endParaRPr lang="en-US" dirty="0"/>
          </a:p>
          <a:p>
            <a:r>
              <a:rPr lang="en-US" b="1" dirty="0"/>
              <a:t>Membrane Keypad (4x4):</a:t>
            </a:r>
            <a:br>
              <a:rPr lang="en-US" dirty="0"/>
            </a:br>
            <a:r>
              <a:rPr lang="en-US" dirty="0"/>
              <a:t>A keypad used as an input device for entering numbers and mathematical operators.</a:t>
            </a:r>
          </a:p>
          <a:p>
            <a:r>
              <a:rPr lang="en-US" b="1" dirty="0"/>
              <a:t>Function Pointers:</a:t>
            </a:r>
            <a:br>
              <a:rPr lang="en-US" dirty="0"/>
            </a:br>
            <a:r>
              <a:rPr lang="tr-TR" dirty="0"/>
              <a:t>P</a:t>
            </a:r>
            <a:r>
              <a:rPr lang="en-US" dirty="0" err="1"/>
              <a:t>rogramming</a:t>
            </a:r>
            <a:r>
              <a:rPr lang="en-US" dirty="0"/>
              <a:t> technique that stores the memory addresses of functions and dynamically determines which mathematical operation (+, −, ×, ÷) will be executed at runtime.</a:t>
            </a:r>
          </a:p>
          <a:p>
            <a:r>
              <a:rPr lang="en-US" b="1" dirty="0"/>
              <a:t>Parsing:</a:t>
            </a:r>
            <a:br>
              <a:rPr lang="en-US" dirty="0"/>
            </a:br>
            <a:r>
              <a:rPr lang="en-US" dirty="0"/>
              <a:t>The process of converting a text-based expression entered via the keypad into mathematical values and operators</a:t>
            </a:r>
          </a:p>
          <a:p>
            <a:r>
              <a:rPr lang="en-US" b="1" dirty="0"/>
              <a:t>Scientific Notation:</a:t>
            </a:r>
            <a:br>
              <a:rPr lang="en-US" dirty="0"/>
            </a:br>
            <a:r>
              <a:rPr lang="en-US" dirty="0"/>
              <a:t>A method of representing very large or very small numbers using an exponent format with an “e” coefficient</a:t>
            </a:r>
            <a:r>
              <a:rPr lang="tr-TR" dirty="0"/>
              <a:t>.</a:t>
            </a:r>
            <a:endParaRPr lang="en-US" dirty="0"/>
          </a:p>
          <a:p>
            <a:r>
              <a:rPr lang="en-US" b="1" dirty="0"/>
              <a:t>Operator Precedence:</a:t>
            </a:r>
            <a:br>
              <a:rPr lang="en-US" dirty="0"/>
            </a:br>
            <a:r>
              <a:rPr lang="en-US" dirty="0"/>
              <a:t>The logical hierarchy in mathematical expressions that specifies multiplication and division are performed before addition and subtraction.</a:t>
            </a:r>
          </a:p>
          <a:p>
            <a:endParaRPr lang="tr-TR" dirty="0"/>
          </a:p>
        </p:txBody>
      </p:sp>
    </p:spTree>
    <p:extLst>
      <p:ext uri="{BB962C8B-B14F-4D97-AF65-F5344CB8AC3E}">
        <p14:creationId xmlns:p14="http://schemas.microsoft.com/office/powerpoint/2010/main" val="3166973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C114BA6-8652-76E4-E394-01279C173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55863" y="-2678137"/>
            <a:ext cx="6857999" cy="12214275"/>
          </a:xfrm>
          <a:prstGeom prst="rect">
            <a:avLst/>
          </a:prstGeom>
          <a:gradFill>
            <a:gsLst>
              <a:gs pos="0">
                <a:schemeClr val="accent2"/>
              </a:gs>
              <a:gs pos="93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B73FDB9-C232-503B-7111-F365C5996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122274"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C7E1ACB-047B-BEFB-AE70-C0379E4140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86656" y="64381"/>
            <a:ext cx="6870003" cy="6741243"/>
          </a:xfrm>
          <a:prstGeom prst="rect">
            <a:avLst/>
          </a:prstGeom>
          <a:gradFill flip="none" rotWithShape="1">
            <a:gsLst>
              <a:gs pos="2000">
                <a:schemeClr val="accent5">
                  <a:lumMod val="60000"/>
                  <a:lumOff val="40000"/>
                  <a:alpha val="68000"/>
                </a:schemeClr>
              </a:gs>
              <a:gs pos="48000">
                <a:schemeClr val="accent2">
                  <a:alpha val="0"/>
                </a:schemeClr>
              </a:gs>
            </a:gsLst>
            <a:lin ang="30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4" name="Rectangle 23">
            <a:extLst>
              <a:ext uri="{FF2B5EF4-FFF2-40B4-BE49-F238E27FC236}">
                <a16:creationId xmlns:a16="http://schemas.microsoft.com/office/drawing/2014/main" id="{B0398528-8A5E-0B3D-1EAE-FE4B4287C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42368" y="-15013"/>
            <a:ext cx="3836566" cy="6888025"/>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etin kutusu 1">
            <a:extLst>
              <a:ext uri="{FF2B5EF4-FFF2-40B4-BE49-F238E27FC236}">
                <a16:creationId xmlns:a16="http://schemas.microsoft.com/office/drawing/2014/main" id="{41CE7B84-ED0C-359C-8D98-4ACF945A23C9}"/>
              </a:ext>
            </a:extLst>
          </p:cNvPr>
          <p:cNvSpPr txBox="1"/>
          <p:nvPr/>
        </p:nvSpPr>
        <p:spPr>
          <a:xfrm>
            <a:off x="193040" y="182881"/>
            <a:ext cx="11775440" cy="477519"/>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2000" b="1" kern="1200" dirty="0">
                <a:solidFill>
                  <a:srgbClr val="FFFFFF"/>
                </a:solidFill>
                <a:latin typeface="+mj-lt"/>
                <a:ea typeface="+mj-ea"/>
                <a:cs typeface="+mj-cs"/>
              </a:rPr>
              <a:t>CODES AND EXPLANATIONS</a:t>
            </a:r>
          </a:p>
        </p:txBody>
      </p:sp>
      <p:pic>
        <p:nvPicPr>
          <p:cNvPr id="4" name="Resim 3" descr="metin, ekran görüntüsü içeren bir resim&#10;&#10;Yapay zeka tarafından oluşturulmuş içerik yanlış olabilir.">
            <a:extLst>
              <a:ext uri="{FF2B5EF4-FFF2-40B4-BE49-F238E27FC236}">
                <a16:creationId xmlns:a16="http://schemas.microsoft.com/office/drawing/2014/main" id="{3022F314-3B85-F3FD-81C4-C4E27A17FB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693" y="583329"/>
            <a:ext cx="11139273" cy="6091790"/>
          </a:xfrm>
          <a:prstGeom prst="rect">
            <a:avLst/>
          </a:prstGeom>
        </p:spPr>
      </p:pic>
    </p:spTree>
    <p:extLst>
      <p:ext uri="{BB962C8B-B14F-4D97-AF65-F5344CB8AC3E}">
        <p14:creationId xmlns:p14="http://schemas.microsoft.com/office/powerpoint/2010/main" val="3805710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182C109-9E4C-3C96-8794-9411573CBD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0" name="Rectangle 9">
              <a:extLst>
                <a:ext uri="{FF2B5EF4-FFF2-40B4-BE49-F238E27FC236}">
                  <a16:creationId xmlns:a16="http://schemas.microsoft.com/office/drawing/2014/main" id="{1C864660-C52B-BC40-9AE0-D900B4B67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FD81F2E-754B-ACB7-ECD1-E1DADAD079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2A2591-0296-4CF4-E75F-51D7CB8E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78A07A2-FD92-5AD1-01EE-9D7AEAB887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9127281" y="7060"/>
              <a:ext cx="3064320" cy="6872683"/>
            </a:xfrm>
            <a:prstGeom prst="rect">
              <a:avLst/>
            </a:prstGeom>
            <a:gradFill flip="none" rotWithShape="1">
              <a:gsLst>
                <a:gs pos="0">
                  <a:schemeClr val="accent2">
                    <a:alpha val="58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3" name="Resim 2" descr="metin, ekran görüntüsü içeren bir resim&#10;&#10;Yapay zeka tarafından oluşturulmuş içerik yanlış olabilir.">
            <a:extLst>
              <a:ext uri="{FF2B5EF4-FFF2-40B4-BE49-F238E27FC236}">
                <a16:creationId xmlns:a16="http://schemas.microsoft.com/office/drawing/2014/main" id="{C813268C-033D-ED84-A2DA-A6977CA410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1520"/>
            <a:ext cx="12192000" cy="5394960"/>
          </a:xfrm>
          <a:prstGeom prst="rect">
            <a:avLst/>
          </a:prstGeom>
        </p:spPr>
      </p:pic>
    </p:spTree>
    <p:extLst>
      <p:ext uri="{BB962C8B-B14F-4D97-AF65-F5344CB8AC3E}">
        <p14:creationId xmlns:p14="http://schemas.microsoft.com/office/powerpoint/2010/main" val="4058966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114BA6-8652-76E4-E394-01279C173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55863" y="-2678137"/>
            <a:ext cx="6857999" cy="12214275"/>
          </a:xfrm>
          <a:prstGeom prst="rect">
            <a:avLst/>
          </a:prstGeom>
          <a:gradFill>
            <a:gsLst>
              <a:gs pos="0">
                <a:schemeClr val="accent2"/>
              </a:gs>
              <a:gs pos="93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B73FDB9-C232-503B-7111-F365C5996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122274"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C7E1ACB-047B-BEFB-AE70-C0379E4140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86656" y="64381"/>
            <a:ext cx="6870003" cy="6741243"/>
          </a:xfrm>
          <a:prstGeom prst="rect">
            <a:avLst/>
          </a:prstGeom>
          <a:gradFill flip="none" rotWithShape="1">
            <a:gsLst>
              <a:gs pos="2000">
                <a:schemeClr val="accent5">
                  <a:lumMod val="60000"/>
                  <a:lumOff val="40000"/>
                  <a:alpha val="68000"/>
                </a:schemeClr>
              </a:gs>
              <a:gs pos="48000">
                <a:schemeClr val="accent2">
                  <a:alpha val="0"/>
                </a:schemeClr>
              </a:gs>
            </a:gsLst>
            <a:lin ang="30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B0398528-8A5E-0B3D-1EAE-FE4B4287C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42368" y="-15013"/>
            <a:ext cx="3836566" cy="6888025"/>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etin kutusu 1">
            <a:extLst>
              <a:ext uri="{FF2B5EF4-FFF2-40B4-BE49-F238E27FC236}">
                <a16:creationId xmlns:a16="http://schemas.microsoft.com/office/drawing/2014/main" id="{C159B930-65D0-96F5-A609-19AF40687732}"/>
              </a:ext>
            </a:extLst>
          </p:cNvPr>
          <p:cNvSpPr txBox="1"/>
          <p:nvPr/>
        </p:nvSpPr>
        <p:spPr>
          <a:xfrm>
            <a:off x="375920" y="447040"/>
            <a:ext cx="11358880" cy="6167119"/>
          </a:xfrm>
          <a:prstGeom prst="rect">
            <a:avLst/>
          </a:prstGeom>
        </p:spPr>
        <p:txBody>
          <a:bodyPr vert="horz" lIns="91440" tIns="45720" rIns="91440" bIns="45720" rtlCol="0" anchor="ctr">
            <a:normAutofit/>
          </a:bodyPr>
          <a:lstStyle/>
          <a:p>
            <a:pPr algn="ctr">
              <a:lnSpc>
                <a:spcPct val="90000"/>
              </a:lnSpc>
              <a:spcBef>
                <a:spcPct val="0"/>
              </a:spcBef>
              <a:spcAft>
                <a:spcPts val="600"/>
              </a:spcAft>
            </a:pPr>
            <a:endParaRPr lang="en-US" sz="4400" kern="1200" dirty="0">
              <a:solidFill>
                <a:srgbClr val="FFFFFF"/>
              </a:solidFill>
              <a:latin typeface="+mj-lt"/>
              <a:ea typeface="+mj-ea"/>
              <a:cs typeface="+mj-cs"/>
            </a:endParaRPr>
          </a:p>
        </p:txBody>
      </p:sp>
      <p:pic>
        <p:nvPicPr>
          <p:cNvPr id="4" name="Resim 3" descr="metin, ekran görüntüsü, yazılım, yazı tipi içeren bir resim&#10;&#10;Yapay zeka tarafından oluşturulmuş içerik yanlış olabilir.">
            <a:extLst>
              <a:ext uri="{FF2B5EF4-FFF2-40B4-BE49-F238E27FC236}">
                <a16:creationId xmlns:a16="http://schemas.microsoft.com/office/drawing/2014/main" id="{8D55BB76-FBE7-0FE9-0B1C-2E9EE4358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12192000" cy="5715000"/>
          </a:xfrm>
          <a:prstGeom prst="rect">
            <a:avLst/>
          </a:prstGeom>
        </p:spPr>
      </p:pic>
    </p:spTree>
    <p:extLst>
      <p:ext uri="{BB962C8B-B14F-4D97-AF65-F5344CB8AC3E}">
        <p14:creationId xmlns:p14="http://schemas.microsoft.com/office/powerpoint/2010/main" val="3884838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4FC3D29B-9142-3718-5A51-01D09D0F55FE}"/>
              </a:ext>
            </a:extLst>
          </p:cNvPr>
          <p:cNvSpPr txBox="1"/>
          <p:nvPr/>
        </p:nvSpPr>
        <p:spPr>
          <a:xfrm>
            <a:off x="457200" y="186813"/>
            <a:ext cx="11277600" cy="461665"/>
          </a:xfrm>
          <a:prstGeom prst="rect">
            <a:avLst/>
          </a:prstGeom>
          <a:noFill/>
        </p:spPr>
        <p:txBody>
          <a:bodyPr wrap="square" rtlCol="0">
            <a:spAutoFit/>
          </a:bodyPr>
          <a:lstStyle/>
          <a:p>
            <a:r>
              <a:rPr lang="tr-TR" sz="2400" b="1" dirty="0"/>
              <a:t>RESULTS</a:t>
            </a:r>
            <a:endParaRPr lang="tr-TR" sz="2400" dirty="0"/>
          </a:p>
        </p:txBody>
      </p:sp>
      <p:pic>
        <p:nvPicPr>
          <p:cNvPr id="3" name="Resim 2">
            <a:extLst>
              <a:ext uri="{FF2B5EF4-FFF2-40B4-BE49-F238E27FC236}">
                <a16:creationId xmlns:a16="http://schemas.microsoft.com/office/drawing/2014/main" id="{29C6B430-7164-7C26-4F63-1F5A9F7A9F95}"/>
              </a:ext>
            </a:extLst>
          </p:cNvPr>
          <p:cNvPicPr>
            <a:picLocks noChangeAspect="1"/>
          </p:cNvPicPr>
          <p:nvPr/>
        </p:nvPicPr>
        <p:blipFill>
          <a:blip r:embed="rId2"/>
          <a:stretch>
            <a:fillRect/>
          </a:stretch>
        </p:blipFill>
        <p:spPr>
          <a:xfrm>
            <a:off x="7156307" y="648478"/>
            <a:ext cx="4578493" cy="2755631"/>
          </a:xfrm>
          <a:prstGeom prst="rect">
            <a:avLst/>
          </a:prstGeom>
        </p:spPr>
      </p:pic>
      <p:sp>
        <p:nvSpPr>
          <p:cNvPr id="4" name="Metin kutusu 3">
            <a:extLst>
              <a:ext uri="{FF2B5EF4-FFF2-40B4-BE49-F238E27FC236}">
                <a16:creationId xmlns:a16="http://schemas.microsoft.com/office/drawing/2014/main" id="{DBD00588-D660-C370-3517-E37886EA31D9}"/>
              </a:ext>
            </a:extLst>
          </p:cNvPr>
          <p:cNvSpPr txBox="1"/>
          <p:nvPr/>
        </p:nvSpPr>
        <p:spPr>
          <a:xfrm>
            <a:off x="457201" y="761877"/>
            <a:ext cx="6699106" cy="3139321"/>
          </a:xfrm>
          <a:prstGeom prst="rect">
            <a:avLst/>
          </a:prstGeom>
          <a:noFill/>
        </p:spPr>
        <p:txBody>
          <a:bodyPr wrap="square" rtlCol="0">
            <a:spAutoFit/>
          </a:bodyPr>
          <a:lstStyle/>
          <a:p>
            <a:r>
              <a:rPr lang="tr-TR" b="1" dirty="0" err="1"/>
              <a:t>Display</a:t>
            </a:r>
            <a:r>
              <a:rPr lang="tr-TR" b="1" dirty="0"/>
              <a:t> Precision vs. </a:t>
            </a:r>
            <a:r>
              <a:rPr lang="tr-TR" b="1" dirty="0" err="1"/>
              <a:t>Numeric</a:t>
            </a:r>
            <a:r>
              <a:rPr lang="tr-TR" b="1" dirty="0"/>
              <a:t> </a:t>
            </a:r>
            <a:r>
              <a:rPr lang="tr-TR" b="1" dirty="0" err="1"/>
              <a:t>Limits</a:t>
            </a:r>
            <a:br>
              <a:rPr lang="en-US" dirty="0"/>
            </a:br>
            <a:r>
              <a:rPr lang="tr-TR" dirty="0" err="1"/>
              <a:t>This</a:t>
            </a:r>
            <a:r>
              <a:rPr lang="tr-TR" dirty="0"/>
              <a:t> </a:t>
            </a:r>
            <a:r>
              <a:rPr lang="tr-TR" dirty="0" err="1"/>
              <a:t>figure</a:t>
            </a:r>
            <a:r>
              <a:rPr lang="tr-TR" dirty="0"/>
              <a:t> </a:t>
            </a:r>
            <a:r>
              <a:rPr lang="tr-TR" dirty="0" err="1"/>
              <a:t>illustrates</a:t>
            </a:r>
            <a:r>
              <a:rPr lang="tr-TR" dirty="0"/>
              <a:t> </a:t>
            </a:r>
            <a:r>
              <a:rPr lang="tr-TR" dirty="0" err="1"/>
              <a:t>the</a:t>
            </a:r>
            <a:r>
              <a:rPr lang="tr-TR" dirty="0"/>
              <a:t> </a:t>
            </a:r>
            <a:r>
              <a:rPr lang="tr-TR" dirty="0" err="1"/>
              <a:t>relationship</a:t>
            </a:r>
            <a:r>
              <a:rPr lang="tr-TR" dirty="0"/>
              <a:t> </a:t>
            </a:r>
            <a:r>
              <a:rPr lang="tr-TR" dirty="0" err="1"/>
              <a:t>between</a:t>
            </a:r>
            <a:r>
              <a:rPr lang="tr-TR" dirty="0"/>
              <a:t> </a:t>
            </a:r>
            <a:r>
              <a:rPr lang="tr-TR" dirty="0" err="1"/>
              <a:t>numeric</a:t>
            </a:r>
            <a:r>
              <a:rPr lang="tr-TR" dirty="0"/>
              <a:t> </a:t>
            </a:r>
            <a:r>
              <a:rPr lang="tr-TR" dirty="0" err="1"/>
              <a:t>magnitude</a:t>
            </a:r>
            <a:r>
              <a:rPr lang="tr-TR" dirty="0"/>
              <a:t> </a:t>
            </a:r>
            <a:r>
              <a:rPr lang="tr-TR" dirty="0" err="1"/>
              <a:t>and</a:t>
            </a:r>
            <a:r>
              <a:rPr lang="tr-TR" dirty="0"/>
              <a:t> </a:t>
            </a:r>
            <a:r>
              <a:rPr lang="tr-TR" dirty="0" err="1"/>
              <a:t>display</a:t>
            </a:r>
            <a:r>
              <a:rPr lang="tr-TR" dirty="0"/>
              <a:t> </a:t>
            </a:r>
            <a:r>
              <a:rPr lang="tr-TR" dirty="0" err="1"/>
              <a:t>precision</a:t>
            </a:r>
            <a:r>
              <a:rPr lang="tr-TR" dirty="0"/>
              <a:t> </a:t>
            </a:r>
            <a:r>
              <a:rPr lang="tr-TR" dirty="0" err="1"/>
              <a:t>under</a:t>
            </a:r>
            <a:r>
              <a:rPr lang="tr-TR" dirty="0"/>
              <a:t> </a:t>
            </a:r>
            <a:r>
              <a:rPr lang="tr-TR" dirty="0" err="1"/>
              <a:t>fixed</a:t>
            </a:r>
            <a:r>
              <a:rPr lang="tr-TR" dirty="0"/>
              <a:t> </a:t>
            </a:r>
            <a:r>
              <a:rPr lang="tr-TR" dirty="0" err="1"/>
              <a:t>formatting</a:t>
            </a:r>
            <a:r>
              <a:rPr lang="tr-TR" dirty="0"/>
              <a:t> </a:t>
            </a:r>
            <a:r>
              <a:rPr lang="tr-TR" dirty="0" err="1"/>
              <a:t>constraints</a:t>
            </a:r>
            <a:r>
              <a:rPr lang="tr-TR" dirty="0"/>
              <a:t>.</a:t>
            </a:r>
          </a:p>
          <a:p>
            <a:pPr marL="285750" indent="-285750">
              <a:buFont typeface="Arial" panose="020B0604020202020204" pitchFamily="34" charset="0"/>
              <a:buChar char="•"/>
            </a:pPr>
            <a:r>
              <a:rPr lang="tr-TR" dirty="0" err="1"/>
              <a:t>The</a:t>
            </a:r>
            <a:r>
              <a:rPr lang="tr-TR" dirty="0"/>
              <a:t> </a:t>
            </a:r>
            <a:r>
              <a:rPr lang="tr-TR" dirty="0" err="1"/>
              <a:t>system</a:t>
            </a:r>
            <a:r>
              <a:rPr lang="tr-TR" dirty="0"/>
              <a:t> </a:t>
            </a:r>
            <a:r>
              <a:rPr lang="tr-TR" dirty="0" err="1"/>
              <a:t>displays</a:t>
            </a:r>
            <a:r>
              <a:rPr lang="tr-TR" dirty="0"/>
              <a:t> a </a:t>
            </a:r>
            <a:r>
              <a:rPr lang="tr-TR" dirty="0" err="1"/>
              <a:t>maximum</a:t>
            </a:r>
            <a:r>
              <a:rPr lang="tr-TR" dirty="0"/>
              <a:t> of 7 </a:t>
            </a:r>
            <a:r>
              <a:rPr lang="tr-TR" dirty="0" err="1"/>
              <a:t>significant</a:t>
            </a:r>
            <a:r>
              <a:rPr lang="tr-TR" dirty="0"/>
              <a:t> </a:t>
            </a:r>
            <a:r>
              <a:rPr lang="tr-TR" dirty="0" err="1"/>
              <a:t>digits</a:t>
            </a:r>
            <a:r>
              <a:rPr lang="tr-TR" dirty="0"/>
              <a:t> </a:t>
            </a:r>
            <a:r>
              <a:rPr lang="tr-TR" dirty="0" err="1"/>
              <a:t>per</a:t>
            </a:r>
            <a:r>
              <a:rPr lang="tr-TR" dirty="0"/>
              <a:t> </a:t>
            </a:r>
            <a:r>
              <a:rPr lang="tr-TR" dirty="0" err="1"/>
              <a:t>result</a:t>
            </a:r>
            <a:r>
              <a:rPr lang="tr-TR" dirty="0"/>
              <a:t>.</a:t>
            </a:r>
          </a:p>
          <a:p>
            <a:pPr marL="285750" indent="-285750">
              <a:buFont typeface="Arial" panose="020B0604020202020204" pitchFamily="34" charset="0"/>
              <a:buChar char="•"/>
            </a:pPr>
            <a:r>
              <a:rPr lang="tr-TR" dirty="0" err="1"/>
              <a:t>For</a:t>
            </a:r>
            <a:r>
              <a:rPr lang="tr-TR" dirty="0"/>
              <a:t> </a:t>
            </a:r>
            <a:r>
              <a:rPr lang="tr-TR" dirty="0" err="1"/>
              <a:t>values</a:t>
            </a:r>
            <a:r>
              <a:rPr lang="tr-TR" dirty="0"/>
              <a:t> </a:t>
            </a:r>
            <a:r>
              <a:rPr lang="tr-TR" dirty="0" err="1"/>
              <a:t>exceeding</a:t>
            </a:r>
            <a:r>
              <a:rPr lang="tr-TR" dirty="0"/>
              <a:t> </a:t>
            </a:r>
            <a:r>
              <a:rPr lang="tr-TR" dirty="0" err="1"/>
              <a:t>this</a:t>
            </a:r>
            <a:r>
              <a:rPr lang="tr-TR" dirty="0"/>
              <a:t> </a:t>
            </a:r>
            <a:r>
              <a:rPr lang="tr-TR" dirty="0" err="1"/>
              <a:t>range</a:t>
            </a:r>
            <a:r>
              <a:rPr lang="tr-TR" dirty="0"/>
              <a:t>, </a:t>
            </a:r>
            <a:r>
              <a:rPr lang="tr-TR" dirty="0" err="1"/>
              <a:t>results</a:t>
            </a:r>
            <a:r>
              <a:rPr lang="tr-TR" dirty="0"/>
              <a:t> </a:t>
            </a:r>
            <a:r>
              <a:rPr lang="tr-TR" dirty="0" err="1"/>
              <a:t>are</a:t>
            </a:r>
            <a:r>
              <a:rPr lang="tr-TR" dirty="0"/>
              <a:t> </a:t>
            </a:r>
            <a:r>
              <a:rPr lang="tr-TR" dirty="0" err="1"/>
              <a:t>shown</a:t>
            </a:r>
            <a:r>
              <a:rPr lang="tr-TR" dirty="0"/>
              <a:t> in </a:t>
            </a:r>
            <a:r>
              <a:rPr lang="tr-TR" dirty="0" err="1"/>
              <a:t>scientific</a:t>
            </a:r>
            <a:r>
              <a:rPr lang="tr-TR" dirty="0"/>
              <a:t> </a:t>
            </a:r>
            <a:r>
              <a:rPr lang="tr-TR" dirty="0" err="1"/>
              <a:t>notation</a:t>
            </a:r>
            <a:r>
              <a:rPr lang="tr-TR" dirty="0"/>
              <a:t>.</a:t>
            </a:r>
          </a:p>
          <a:p>
            <a:pPr marL="285750" indent="-285750">
              <a:buFont typeface="Arial" panose="020B0604020202020204" pitchFamily="34" charset="0"/>
              <a:buChar char="•"/>
            </a:pPr>
            <a:r>
              <a:rPr lang="tr-TR" dirty="0"/>
              <a:t>As </a:t>
            </a:r>
            <a:r>
              <a:rPr lang="tr-TR" dirty="0" err="1"/>
              <a:t>the</a:t>
            </a:r>
            <a:r>
              <a:rPr lang="tr-TR" dirty="0"/>
              <a:t> </a:t>
            </a:r>
            <a:r>
              <a:rPr lang="tr-TR" dirty="0" err="1"/>
              <a:t>exponent</a:t>
            </a:r>
            <a:r>
              <a:rPr lang="tr-TR" dirty="0"/>
              <a:t> </a:t>
            </a:r>
            <a:r>
              <a:rPr lang="tr-TR" dirty="0" err="1"/>
              <a:t>increases</a:t>
            </a:r>
            <a:r>
              <a:rPr lang="tr-TR" dirty="0"/>
              <a:t>, </a:t>
            </a:r>
            <a:r>
              <a:rPr lang="tr-TR" dirty="0" err="1"/>
              <a:t>lower-order</a:t>
            </a:r>
            <a:r>
              <a:rPr lang="tr-TR" dirty="0"/>
              <a:t> </a:t>
            </a:r>
            <a:r>
              <a:rPr lang="tr-TR" dirty="0" err="1"/>
              <a:t>digits</a:t>
            </a:r>
            <a:r>
              <a:rPr lang="tr-TR" dirty="0"/>
              <a:t> </a:t>
            </a:r>
            <a:r>
              <a:rPr lang="tr-TR" dirty="0" err="1"/>
              <a:t>become</a:t>
            </a:r>
            <a:r>
              <a:rPr lang="tr-TR" dirty="0"/>
              <a:t> </a:t>
            </a:r>
            <a:r>
              <a:rPr lang="tr-TR" dirty="0" err="1"/>
              <a:t>unpresentable</a:t>
            </a:r>
            <a:r>
              <a:rPr lang="tr-TR" dirty="0"/>
              <a:t> </a:t>
            </a:r>
            <a:r>
              <a:rPr lang="tr-TR" dirty="0" err="1"/>
              <a:t>due</a:t>
            </a:r>
            <a:r>
              <a:rPr lang="tr-TR" dirty="0"/>
              <a:t> </a:t>
            </a:r>
            <a:r>
              <a:rPr lang="tr-TR" dirty="0" err="1"/>
              <a:t>to</a:t>
            </a:r>
            <a:r>
              <a:rPr lang="tr-TR" dirty="0"/>
              <a:t> </a:t>
            </a:r>
            <a:r>
              <a:rPr lang="tr-TR" dirty="0" err="1"/>
              <a:t>mantissa</a:t>
            </a:r>
            <a:r>
              <a:rPr lang="tr-TR" dirty="0"/>
              <a:t> </a:t>
            </a:r>
            <a:r>
              <a:rPr lang="tr-TR" dirty="0" err="1"/>
              <a:t>limitations</a:t>
            </a:r>
            <a:r>
              <a:rPr lang="tr-TR" dirty="0"/>
              <a:t>.</a:t>
            </a:r>
          </a:p>
          <a:p>
            <a:pPr marL="285750" indent="-285750">
              <a:buFont typeface="Arial" panose="020B0604020202020204" pitchFamily="34" charset="0"/>
              <a:buChar char="•"/>
            </a:pPr>
            <a:r>
              <a:rPr lang="tr-TR" dirty="0" err="1"/>
              <a:t>The</a:t>
            </a:r>
            <a:r>
              <a:rPr lang="tr-TR" dirty="0"/>
              <a:t> </a:t>
            </a:r>
            <a:r>
              <a:rPr lang="tr-TR" dirty="0" err="1"/>
              <a:t>number</a:t>
            </a:r>
            <a:r>
              <a:rPr lang="tr-TR" dirty="0"/>
              <a:t> of </a:t>
            </a:r>
            <a:r>
              <a:rPr lang="tr-TR" dirty="0" err="1"/>
              <a:t>lost</a:t>
            </a:r>
            <a:r>
              <a:rPr lang="tr-TR" dirty="0"/>
              <a:t> </a:t>
            </a:r>
            <a:r>
              <a:rPr lang="tr-TR" dirty="0" err="1"/>
              <a:t>decimal</a:t>
            </a:r>
            <a:r>
              <a:rPr lang="tr-TR" dirty="0"/>
              <a:t> </a:t>
            </a:r>
            <a:r>
              <a:rPr lang="tr-TR" dirty="0" err="1"/>
              <a:t>digits</a:t>
            </a:r>
            <a:r>
              <a:rPr lang="tr-TR" dirty="0"/>
              <a:t> </a:t>
            </a:r>
            <a:r>
              <a:rPr lang="tr-TR" dirty="0" err="1"/>
              <a:t>increases</a:t>
            </a:r>
            <a:r>
              <a:rPr lang="tr-TR" dirty="0"/>
              <a:t> </a:t>
            </a:r>
            <a:r>
              <a:rPr lang="tr-TR" dirty="0" err="1"/>
              <a:t>linearly</a:t>
            </a:r>
            <a:r>
              <a:rPr lang="tr-TR" dirty="0"/>
              <a:t> </a:t>
            </a:r>
            <a:r>
              <a:rPr lang="tr-TR" dirty="0" err="1"/>
              <a:t>with</a:t>
            </a:r>
            <a:r>
              <a:rPr lang="tr-TR" dirty="0"/>
              <a:t> </a:t>
            </a:r>
            <a:r>
              <a:rPr lang="tr-TR" dirty="0" err="1"/>
              <a:t>the</a:t>
            </a:r>
            <a:r>
              <a:rPr lang="tr-TR" dirty="0"/>
              <a:t> </a:t>
            </a:r>
            <a:r>
              <a:rPr lang="tr-TR" dirty="0" err="1"/>
              <a:t>order</a:t>
            </a:r>
            <a:r>
              <a:rPr lang="tr-TR" dirty="0"/>
              <a:t> of </a:t>
            </a:r>
            <a:r>
              <a:rPr lang="tr-TR" dirty="0" err="1"/>
              <a:t>magnitude</a:t>
            </a:r>
            <a:r>
              <a:rPr lang="tr-TR" dirty="0"/>
              <a:t>.</a:t>
            </a:r>
          </a:p>
        </p:txBody>
      </p:sp>
      <p:sp>
        <p:nvSpPr>
          <p:cNvPr id="8" name="Metin kutusu 7">
            <a:extLst>
              <a:ext uri="{FF2B5EF4-FFF2-40B4-BE49-F238E27FC236}">
                <a16:creationId xmlns:a16="http://schemas.microsoft.com/office/drawing/2014/main" id="{580D31FD-16D5-CCD6-C4B3-B1740FE6E885}"/>
              </a:ext>
            </a:extLst>
          </p:cNvPr>
          <p:cNvSpPr txBox="1"/>
          <p:nvPr/>
        </p:nvSpPr>
        <p:spPr>
          <a:xfrm>
            <a:off x="457200" y="3758647"/>
            <a:ext cx="11277599" cy="923330"/>
          </a:xfrm>
          <a:prstGeom prst="rect">
            <a:avLst/>
          </a:prstGeom>
          <a:noFill/>
        </p:spPr>
        <p:txBody>
          <a:bodyPr wrap="square">
            <a:spAutoFit/>
          </a:bodyPr>
          <a:lstStyle/>
          <a:p>
            <a:pPr marL="285750" indent="-285750">
              <a:buFont typeface="Arial" panose="020B0604020202020204" pitchFamily="34" charset="0"/>
              <a:buChar char="•"/>
            </a:pPr>
            <a:r>
              <a:rPr lang="en-US" dirty="0"/>
              <a:t>The behavior is symmetric for positive and negative values.</a:t>
            </a:r>
            <a:endParaRPr lang="tr-TR" dirty="0"/>
          </a:p>
          <a:p>
            <a:pPr marL="285750" indent="-285750">
              <a:buFont typeface="Arial" panose="020B0604020202020204" pitchFamily="34" charset="0"/>
              <a:buChar char="•"/>
            </a:pPr>
            <a:r>
              <a:rPr lang="en-US" dirty="0"/>
              <a:t>Values close to zero retain higher precision, reaching t</a:t>
            </a:r>
            <a:r>
              <a:rPr lang="tr-TR" dirty="0"/>
              <a:t>he </a:t>
            </a:r>
            <a:r>
              <a:rPr lang="en-US" dirty="0"/>
              <a:t>smallest </a:t>
            </a:r>
            <a:r>
              <a:rPr lang="en-US" dirty="0" err="1"/>
              <a:t>respresentable</a:t>
            </a:r>
            <a:r>
              <a:rPr lang="en-US" dirty="0"/>
              <a:t> magnitude of</a:t>
            </a:r>
            <a:r>
              <a:rPr lang="tr-TR" dirty="0"/>
              <a:t> </a:t>
            </a:r>
            <a:r>
              <a:rPr lang="en-US" dirty="0"/>
              <a:t>±2⁻¹⁴⁹</a:t>
            </a:r>
            <a:r>
              <a:rPr lang="tr-TR" dirty="0"/>
              <a:t>.</a:t>
            </a:r>
            <a:endParaRPr lang="en-US" dirty="0"/>
          </a:p>
          <a:p>
            <a:pPr marL="285750" indent="-285750">
              <a:buFont typeface="Arial" panose="020B0604020202020204" pitchFamily="34" charset="0"/>
              <a:buChar char="•"/>
            </a:pPr>
            <a:r>
              <a:rPr lang="en-US" dirty="0"/>
              <a:t>Results exceeding</a:t>
            </a:r>
            <a:r>
              <a:rPr lang="tr-TR" dirty="0"/>
              <a:t> </a:t>
            </a:r>
            <a:r>
              <a:rPr lang="en-US" dirty="0"/>
              <a:t>±(2¹²⁸ − 1)</a:t>
            </a:r>
            <a:r>
              <a:rPr lang="tr-TR" dirty="0"/>
              <a:t> </a:t>
            </a:r>
            <a:r>
              <a:rPr lang="en-US" dirty="0"/>
              <a:t>overflow and are displayed as ±inf.</a:t>
            </a:r>
          </a:p>
        </p:txBody>
      </p:sp>
      <p:sp>
        <p:nvSpPr>
          <p:cNvPr id="9" name="Metin kutusu 8">
            <a:extLst>
              <a:ext uri="{FF2B5EF4-FFF2-40B4-BE49-F238E27FC236}">
                <a16:creationId xmlns:a16="http://schemas.microsoft.com/office/drawing/2014/main" id="{7A6DCA61-F1ED-66B0-437F-90C37D0E7A90}"/>
              </a:ext>
            </a:extLst>
          </p:cNvPr>
          <p:cNvSpPr txBox="1"/>
          <p:nvPr/>
        </p:nvSpPr>
        <p:spPr>
          <a:xfrm>
            <a:off x="457201" y="4895794"/>
            <a:ext cx="6699106" cy="369332"/>
          </a:xfrm>
          <a:prstGeom prst="rect">
            <a:avLst/>
          </a:prstGeom>
          <a:noFill/>
        </p:spPr>
        <p:txBody>
          <a:bodyPr wrap="square" rtlCol="0">
            <a:spAutoFit/>
          </a:bodyPr>
          <a:lstStyle/>
          <a:p>
            <a:r>
              <a:rPr lang="tr-TR" b="1" dirty="0"/>
              <a:t>Memory </a:t>
            </a:r>
            <a:r>
              <a:rPr lang="tr-TR" b="1" dirty="0" err="1"/>
              <a:t>Utilization</a:t>
            </a:r>
            <a:r>
              <a:rPr lang="tr-TR" b="1" dirty="0"/>
              <a:t> </a:t>
            </a:r>
            <a:r>
              <a:rPr lang="tr-TR" b="1" dirty="0" err="1"/>
              <a:t>Overview</a:t>
            </a:r>
            <a:endParaRPr lang="en-US" dirty="0"/>
          </a:p>
        </p:txBody>
      </p:sp>
      <p:sp>
        <p:nvSpPr>
          <p:cNvPr id="10" name="Metin kutusu 9">
            <a:extLst>
              <a:ext uri="{FF2B5EF4-FFF2-40B4-BE49-F238E27FC236}">
                <a16:creationId xmlns:a16="http://schemas.microsoft.com/office/drawing/2014/main" id="{93750FF9-4703-D5F9-E7BC-8C75D6030414}"/>
              </a:ext>
            </a:extLst>
          </p:cNvPr>
          <p:cNvSpPr txBox="1"/>
          <p:nvPr/>
        </p:nvSpPr>
        <p:spPr>
          <a:xfrm>
            <a:off x="457201" y="4895794"/>
            <a:ext cx="11277598" cy="1477328"/>
          </a:xfrm>
          <a:prstGeom prst="rect">
            <a:avLst/>
          </a:prstGeom>
          <a:noFill/>
        </p:spPr>
        <p:txBody>
          <a:bodyPr wrap="square" rtlCol="0">
            <a:spAutoFit/>
          </a:bodyPr>
          <a:lstStyle/>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en-US" dirty="0"/>
              <a:t>Program storage usage: 10,426 bytes (32%)</a:t>
            </a:r>
          </a:p>
          <a:p>
            <a:r>
              <a:rPr lang="tr-TR" dirty="0"/>
              <a:t>	</a:t>
            </a:r>
            <a:r>
              <a:rPr lang="en-US" i="1" dirty="0"/>
              <a:t>(Maximum available: 32,256 bytes)</a:t>
            </a:r>
          </a:p>
          <a:p>
            <a:pPr marL="285750" indent="-285750">
              <a:buFont typeface="Arial" panose="020B0604020202020204" pitchFamily="34" charset="0"/>
              <a:buChar char="•"/>
            </a:pPr>
            <a:r>
              <a:rPr lang="en-US" dirty="0"/>
              <a:t>Dynamic memory usage (global variables): 777 bytes (37%)</a:t>
            </a:r>
          </a:p>
          <a:p>
            <a:r>
              <a:rPr lang="tr-TR" dirty="0"/>
              <a:t>	</a:t>
            </a:r>
            <a:r>
              <a:rPr lang="en-US" i="1" dirty="0"/>
              <a:t>(Remaining for local variables: 1,271 bytes out of 2,048 bytes)</a:t>
            </a:r>
            <a:endParaRPr lang="tr-TR" i="1" dirty="0"/>
          </a:p>
        </p:txBody>
      </p:sp>
      <p:graphicFrame>
        <p:nvGraphicFramePr>
          <p:cNvPr id="13" name="Grafik 12">
            <a:extLst>
              <a:ext uri="{FF2B5EF4-FFF2-40B4-BE49-F238E27FC236}">
                <a16:creationId xmlns:a16="http://schemas.microsoft.com/office/drawing/2014/main" id="{ED736C26-F7DA-F51B-37FE-C9DAE1FD0B2C}"/>
              </a:ext>
            </a:extLst>
          </p:cNvPr>
          <p:cNvGraphicFramePr/>
          <p:nvPr>
            <p:extLst>
              <p:ext uri="{D42A27DB-BD31-4B8C-83A1-F6EECF244321}">
                <p14:modId xmlns:p14="http://schemas.microsoft.com/office/powerpoint/2010/main" val="4050901859"/>
              </p:ext>
            </p:extLst>
          </p:nvPr>
        </p:nvGraphicFramePr>
        <p:xfrm>
          <a:off x="7433707" y="4487594"/>
          <a:ext cx="1991647" cy="188552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Grafik 13">
            <a:extLst>
              <a:ext uri="{FF2B5EF4-FFF2-40B4-BE49-F238E27FC236}">
                <a16:creationId xmlns:a16="http://schemas.microsoft.com/office/drawing/2014/main" id="{A5A288ED-C9CE-EA1B-276C-FE7201991B09}"/>
              </a:ext>
            </a:extLst>
          </p:cNvPr>
          <p:cNvGraphicFramePr/>
          <p:nvPr>
            <p:extLst>
              <p:ext uri="{D42A27DB-BD31-4B8C-83A1-F6EECF244321}">
                <p14:modId xmlns:p14="http://schemas.microsoft.com/office/powerpoint/2010/main" val="3201436955"/>
              </p:ext>
            </p:extLst>
          </p:nvPr>
        </p:nvGraphicFramePr>
        <p:xfrm>
          <a:off x="9425354" y="4468160"/>
          <a:ext cx="1991647" cy="188552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13016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BCC20393-1718-C3A4-6548-504024705947}"/>
              </a:ext>
            </a:extLst>
          </p:cNvPr>
          <p:cNvSpPr txBox="1"/>
          <p:nvPr/>
        </p:nvSpPr>
        <p:spPr>
          <a:xfrm>
            <a:off x="457200" y="751344"/>
            <a:ext cx="11395276" cy="5909310"/>
          </a:xfrm>
          <a:prstGeom prst="rect">
            <a:avLst/>
          </a:prstGeom>
          <a:noFill/>
        </p:spPr>
        <p:txBody>
          <a:bodyPr wrap="square">
            <a:spAutoFit/>
          </a:bodyPr>
          <a:lstStyle/>
          <a:p>
            <a:r>
              <a:rPr lang="en-US" b="1" dirty="0"/>
              <a:t>Discussion</a:t>
            </a:r>
          </a:p>
          <a:p>
            <a:endParaRPr lang="tr-TR" dirty="0"/>
          </a:p>
          <a:p>
            <a:r>
              <a:rPr lang="en-US" dirty="0"/>
              <a:t>The results demonstrate a clear and predictable relationship between numeric magnitude and display precision under fixed output constraints. As shown in the graph, the number of unrepresentable lower-order digits increases linearly with the order of magnitude. This behavior is a direct consequence of limiting the output to a fixed number of significant digits, which forces precision to be traded for range as values grow larger.</a:t>
            </a:r>
          </a:p>
          <a:p>
            <a:r>
              <a:rPr lang="en-US" dirty="0"/>
              <a:t>Near zero, the system achieves its highest precision, successfully representing values down to ±2⁻¹⁴⁹ using subnormal numbers. In contrast, for large magnitudes approaching ±(2¹²⁸ − 1), precision is progressively reduced, and values exceeding this range result in overflow and are displayed as ±</a:t>
            </a:r>
            <a:r>
              <a:rPr lang="tr-TR" dirty="0" err="1"/>
              <a:t>inf</a:t>
            </a:r>
            <a:r>
              <a:rPr lang="en-US" dirty="0"/>
              <a:t>. The symmetry observed between positive and negative values confirms that the loss of precision is independent of sign and solely governed by magnitude.</a:t>
            </a:r>
            <a:endParaRPr lang="tr-TR" dirty="0"/>
          </a:p>
          <a:p>
            <a:r>
              <a:rPr lang="en-US" dirty="0"/>
              <a:t>From a practical perspective, this trade-off is acceptable and expected in embedded systems with strict memory and formatting limitations. The chosen approach ensures readable and consistent output while preventing undefined behavior. Overall, the results confirm that the implemented display strategy provides a balanced compromise between numerical accuracy, usability, and hardware constraints</a:t>
            </a:r>
            <a:r>
              <a:rPr lang="tr-TR" dirty="0"/>
              <a:t>.</a:t>
            </a:r>
          </a:p>
          <a:p>
            <a:endParaRPr lang="tr-TR" dirty="0"/>
          </a:p>
          <a:p>
            <a:r>
              <a:rPr lang="en-US" dirty="0"/>
              <a:t>In addition, the implementation demonstrates efficient use of both program storage and dynamic memory. Despite supporting complex expression handling and robust formatting logic, the system occupies only 32% of program memory and 37% of available dynamic memory, leaving sufficient headroom for stable execution. This indicates that the design achieves high functionality with a compact and resource-aware code structure, which is critical for embedded environments.</a:t>
            </a:r>
            <a:endParaRPr lang="tr-TR" dirty="0"/>
          </a:p>
        </p:txBody>
      </p:sp>
      <p:sp>
        <p:nvSpPr>
          <p:cNvPr id="4" name="Metin kutusu 3">
            <a:extLst>
              <a:ext uri="{FF2B5EF4-FFF2-40B4-BE49-F238E27FC236}">
                <a16:creationId xmlns:a16="http://schemas.microsoft.com/office/drawing/2014/main" id="{CF267A70-38E7-74E8-337B-37BBD7CB1C8F}"/>
              </a:ext>
            </a:extLst>
          </p:cNvPr>
          <p:cNvSpPr txBox="1"/>
          <p:nvPr/>
        </p:nvSpPr>
        <p:spPr>
          <a:xfrm>
            <a:off x="457200" y="186813"/>
            <a:ext cx="11277600" cy="461665"/>
          </a:xfrm>
          <a:prstGeom prst="rect">
            <a:avLst/>
          </a:prstGeom>
          <a:noFill/>
        </p:spPr>
        <p:txBody>
          <a:bodyPr wrap="square" rtlCol="0">
            <a:spAutoFit/>
          </a:bodyPr>
          <a:lstStyle/>
          <a:p>
            <a:r>
              <a:rPr lang="tr-TR" sz="2400" b="1" dirty="0"/>
              <a:t>RESULTS</a:t>
            </a:r>
            <a:endParaRPr lang="tr-TR" sz="2400" dirty="0"/>
          </a:p>
        </p:txBody>
      </p:sp>
      <p:sp>
        <p:nvSpPr>
          <p:cNvPr id="9" name="Metin kutusu 8">
            <a:extLst>
              <a:ext uri="{FF2B5EF4-FFF2-40B4-BE49-F238E27FC236}">
                <a16:creationId xmlns:a16="http://schemas.microsoft.com/office/drawing/2014/main" id="{74A18803-13FC-B198-550A-940AF9516112}"/>
              </a:ext>
            </a:extLst>
          </p:cNvPr>
          <p:cNvSpPr txBox="1"/>
          <p:nvPr/>
        </p:nvSpPr>
        <p:spPr>
          <a:xfrm>
            <a:off x="196287" y="1302324"/>
            <a:ext cx="286473" cy="4247317"/>
          </a:xfrm>
          <a:prstGeom prst="rect">
            <a:avLst/>
          </a:prstGeom>
          <a:noFill/>
        </p:spPr>
        <p:txBody>
          <a:bodyPr wrap="square">
            <a:spAutoFit/>
          </a:bodyPr>
          <a:lstStyle/>
          <a:p>
            <a:r>
              <a:rPr lang="tr-TR" b="1" i="1" dirty="0"/>
              <a:t>&gt;</a:t>
            </a:r>
          </a:p>
          <a:p>
            <a:endParaRPr lang="tr-TR" b="1" i="1" dirty="0"/>
          </a:p>
          <a:p>
            <a:endParaRPr lang="tr-TR" b="1" i="1" dirty="0"/>
          </a:p>
          <a:p>
            <a:endParaRPr lang="tr-TR" b="1" i="1" dirty="0"/>
          </a:p>
          <a:p>
            <a:endParaRPr lang="tr-TR" b="1" i="1" dirty="0"/>
          </a:p>
          <a:p>
            <a:endParaRPr lang="tr-TR" b="1" i="1" dirty="0"/>
          </a:p>
          <a:p>
            <a:endParaRPr lang="tr-TR" b="1" i="1" dirty="0"/>
          </a:p>
          <a:p>
            <a:endParaRPr lang="tr-TR" b="1" i="1" dirty="0"/>
          </a:p>
          <a:p>
            <a:endParaRPr lang="tr-TR" b="1" i="1" dirty="0"/>
          </a:p>
          <a:p>
            <a:endParaRPr lang="tr-TR" b="1" i="1" dirty="0"/>
          </a:p>
          <a:p>
            <a:endParaRPr lang="tr-TR" b="1" i="1" dirty="0"/>
          </a:p>
          <a:p>
            <a:endParaRPr lang="tr-TR" b="1" i="1" dirty="0"/>
          </a:p>
          <a:p>
            <a:endParaRPr lang="tr-TR" b="1" i="1" dirty="0"/>
          </a:p>
          <a:p>
            <a:endParaRPr lang="tr-TR" b="1" i="1" dirty="0"/>
          </a:p>
          <a:p>
            <a:r>
              <a:rPr lang="tr-TR" b="1" i="1" dirty="0"/>
              <a:t>&gt;</a:t>
            </a:r>
          </a:p>
        </p:txBody>
      </p:sp>
    </p:spTree>
    <p:extLst>
      <p:ext uri="{BB962C8B-B14F-4D97-AF65-F5344CB8AC3E}">
        <p14:creationId xmlns:p14="http://schemas.microsoft.com/office/powerpoint/2010/main" val="2098476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7EE46-F1ED-7E62-50AD-9CA597F319BA}"/>
            </a:ext>
          </a:extLst>
        </p:cNvPr>
        <p:cNvGrpSpPr/>
        <p:nvPr/>
      </p:nvGrpSpPr>
      <p:grpSpPr>
        <a:xfrm>
          <a:off x="0" y="0"/>
          <a:ext cx="0" cy="0"/>
          <a:chOff x="0" y="0"/>
          <a:chExt cx="0" cy="0"/>
        </a:xfrm>
      </p:grpSpPr>
      <p:sp>
        <p:nvSpPr>
          <p:cNvPr id="3" name="Metin kutusu 2">
            <a:extLst>
              <a:ext uri="{FF2B5EF4-FFF2-40B4-BE49-F238E27FC236}">
                <a16:creationId xmlns:a16="http://schemas.microsoft.com/office/drawing/2014/main" id="{01C145C5-FC9C-9F55-4DA3-F8C38A81019E}"/>
              </a:ext>
            </a:extLst>
          </p:cNvPr>
          <p:cNvSpPr txBox="1"/>
          <p:nvPr/>
        </p:nvSpPr>
        <p:spPr>
          <a:xfrm>
            <a:off x="457200" y="751344"/>
            <a:ext cx="11395276" cy="5355312"/>
          </a:xfrm>
          <a:prstGeom prst="rect">
            <a:avLst/>
          </a:prstGeom>
          <a:noFill/>
        </p:spPr>
        <p:txBody>
          <a:bodyPr wrap="square">
            <a:spAutoFit/>
          </a:bodyPr>
          <a:lstStyle/>
          <a:p>
            <a:r>
              <a:rPr lang="en-US" dirty="0"/>
              <a:t>We aimed to keep the code visually simple, compact, and easy to understand while maintaining high performance. At the same time, we focused on ensuring a modular structure to support scalability and maintainability.</a:t>
            </a:r>
            <a:endParaRPr lang="tr-TR" dirty="0"/>
          </a:p>
          <a:p>
            <a:endParaRPr lang="tr-TR" dirty="0"/>
          </a:p>
          <a:p>
            <a:r>
              <a:rPr lang="en-US" dirty="0"/>
              <a:t>As opposed to the usual solution to this problem where if/else or switch statements are prominent, we chose to utilize lookup tables and callback functions to implement dynamic function dispatch. This expands on the program’s modularity as it stream-lines the process of adding new operators or other kinds of functions in the future.</a:t>
            </a:r>
          </a:p>
          <a:p>
            <a:endParaRPr lang="en-US" dirty="0"/>
          </a:p>
          <a:p>
            <a:r>
              <a:rPr lang="en-US" dirty="0"/>
              <a:t>Our program’s logic has the execution flow guard clauses with early exits to handle different actions. This method, unlike if/else branches, adds yet another layer of modularity as well as introducing new defensive-programming techniques.</a:t>
            </a:r>
          </a:p>
          <a:p>
            <a:endParaRPr lang="en-US" dirty="0"/>
          </a:p>
          <a:p>
            <a:r>
              <a:rPr lang="en-US" dirty="0"/>
              <a:t>The parsing algorithm in our program makes use of lexical parsing, stack-based evaluation, and single-pass evaluation to ensure operator precedence is handled efficiently. In this particular section we are also met with a demonstration of our function-pointer dispatch where it contributes to the efficiency of the algorithm with the modularity it provides.</a:t>
            </a:r>
            <a:endParaRPr lang="tr-TR" dirty="0"/>
          </a:p>
          <a:p>
            <a:endParaRPr lang="tr-TR" dirty="0"/>
          </a:p>
          <a:p>
            <a:r>
              <a:rPr lang="en-US" dirty="0"/>
              <a:t>Overall, the results confirm that the intended design goals were successfully achieved within strict hardware and memory constraints.</a:t>
            </a:r>
            <a:endParaRPr lang="tr-TR" dirty="0"/>
          </a:p>
        </p:txBody>
      </p:sp>
      <p:sp>
        <p:nvSpPr>
          <p:cNvPr id="4" name="Metin kutusu 3">
            <a:extLst>
              <a:ext uri="{FF2B5EF4-FFF2-40B4-BE49-F238E27FC236}">
                <a16:creationId xmlns:a16="http://schemas.microsoft.com/office/drawing/2014/main" id="{A75EBB87-95F2-B8ED-3A33-8677CD859485}"/>
              </a:ext>
            </a:extLst>
          </p:cNvPr>
          <p:cNvSpPr txBox="1"/>
          <p:nvPr/>
        </p:nvSpPr>
        <p:spPr>
          <a:xfrm>
            <a:off x="457200" y="186813"/>
            <a:ext cx="11277600" cy="461665"/>
          </a:xfrm>
          <a:prstGeom prst="rect">
            <a:avLst/>
          </a:prstGeom>
          <a:noFill/>
        </p:spPr>
        <p:txBody>
          <a:bodyPr wrap="square" rtlCol="0">
            <a:spAutoFit/>
          </a:bodyPr>
          <a:lstStyle/>
          <a:p>
            <a:r>
              <a:rPr lang="tr-TR" sz="2400" b="1" dirty="0"/>
              <a:t>CONCLUSION</a:t>
            </a:r>
            <a:endParaRPr lang="tr-TR" sz="2400" dirty="0"/>
          </a:p>
        </p:txBody>
      </p:sp>
    </p:spTree>
    <p:extLst>
      <p:ext uri="{BB962C8B-B14F-4D97-AF65-F5344CB8AC3E}">
        <p14:creationId xmlns:p14="http://schemas.microsoft.com/office/powerpoint/2010/main" val="4241492585"/>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20B9947-3A89-4B43-BC53-974B134325A6}">
  <we:reference id="WA104381909" version="3.20.0.0" store="Omex" storeType="OMEX"/>
  <we:alternateReferences>
    <we:reference id="WA104381909" version="3.20.0.0" store="WA104381909" storeType="OMEX"/>
  </we:alternateReferences>
  <we:properties>
    <we:property name="EQUATION_HISTORY" value="&quot;[{\&quot;mathml\&quot;:\&quot;&lt;math style=\\\&quot;font-family:stix;font-size:16px;\\\&quot; xmlns=\\\&quot;http://www.w3.org/1998/Math/MathML\\\&quot;&gt;&lt;mo&gt;&amp;#xB1;&lt;/mo&gt;&lt;msup&gt;&lt;mn&gt;2&lt;/mn&gt;&lt;mrow&gt;&lt;mo&gt;-&lt;/mo&gt;&lt;mn&gt;149&lt;/mn&gt;&lt;/mrow&gt;&lt;/msup&gt;&lt;/math&gt;\&quot;,\&quot;base64Image\&quot;:\&quot;iVBORw0KGgoAAAANSUhEUgAAAUgAAABdCAYAAADHeP+vAAAACXBIWXMAAA7EAAAOxAGVKw4bAAAABGJhU0UAAABUrCIHcwAACfVJREFUeNrtnXGEFVsYwD9rrWRF1pMkkZUkiSTJs2KtJFmxVpKsSJKkf/I8WVnxJE+yIkmSLMlKksiTPMmSJMl6ZCVJIkmSxHvzuXNfZ28zZ+bee2bumZnfj+Pl7e7MnDPf/O6Zc8/5jggAFIVVQen1+PoWBGU2KP+G5Ta3DACypi8ok0H5HpS9Hl/nWUOOWQtyUVD2BOVqUJ4G5XNQvgXla1A+BuWvoJwLyragdBFCAOWjOyjHwwe+Lh1fBTnYIMesBLksKOdDGf6bsrwJ23EBIQVQDnYFZS7iYfdRkIuD8joHQR4Ke4r1438NZbkjFKcOP2wKylhQ7kdcj7bnAKEFUFw2BOWhpTfkoyCvxVyrK0F2R5zjcVCWJ/zdQNh7bLyuo4QZQLHQHtDlFK+LvglyxHKtLgSp44d3Go77T9hrTcPSmN7t74QcgP/ouNh4UL5IuvE0nwSp8vmQsSCvRBx3a5PHWCe1L7gaj7OP8APwl7HwFXAqfOi1t9Qf9pCKIMi7CTJvV5D7I475qMVjnYo4lo5hriUMAfzjQlCmg7Im4mejBRDkIeOaJjIQpPZOP0Uc80CLx1sc00t/SigC+EdfwsPssyD7DdnMBKUnA0HGjcf2tXHMizHHPEw4AhQLXwXZFUpRr0Wn3KzKQJArJHrM8Hmb1z4Yc51vwzoAAIJsi/GInpdrQca9sl9xIPevMcc+RMgBIMh2WG/07O4Z/9+1IGczfBW+E3Psx4QcAIJsFTMRhU7tWZqRIFdY6j7soB6nLcfvJ+wAEGQrmIkoRht+5lKQtonngw7qYZshwJc1AAiyacwvN6Yifu5SkBOWum92UJchy/FvEHYACLIZdMpRfT2z/rcvY0FetdR9uYP69FqO/56wKzaayOCI1Bbua7YSHQvS+Wj1PHg67eKl1CYgn5HamA3TFxBkO5hJIrbF/I5LQU5b6v6rg/p0iX31D89LwdAkBiclesF9mvItDDrSPCHIZjHHAyctv+dSkLcsdR9yVC/buvcthF4xWBT2AptJDJpUNI3WepoWQabATESha8MXeCDIYUd1+2g5xw5Cz38G2ugxJhWdxzZOEyPIBO4a8bIp4XddCvK6pe5jjur23nKOEULPb8YkepmV63JLSEGPIKNpTESRhEtBXrTU/bKj+r2TYiUkhojAzKNoL6GbZkeQBmYiCs10k2bDK5eC3Gep+xNHdXyDIIvHzpzl6Gp9K5RHkGYiCp0VsSbl37kU5MaEeO1zUE+bIHcTev6hn9qfYm6YDpBrsk8doF7S8IneEwaxbvCkW1zOtSjJMW4BgpT5iSia2bfFpSA1vm1Zyl0klbAJkjFID5mR6NROrSyt0i94HjUpyA+OPpmhuILUObb1se8HTf6t62QVk5b6P3NQV9sYJN9ie8bBiJt0Ttrf7PygpN/nRMsZbkVlBWkmotApMM2uWHEtyNUJsdrOa7COudumzq0j9Pxhofw85WDC4fE3J7yumEVl2sstqaQgzUQUrWxklUVG8SuWNnjTxhvP0YTnoIvQ84ffGm7OVAbn2Crppw3t55ZUTpBmIorpFo+RhSCXJLwK35fmlwUOJrxVvSPs/EE/qczJ4HMZ9uDGUwqSbCbVEqSZiOJdG72yLARZ/3C3xeuDUKRJaI7JSeK/WDRO6xnK8FwawK9SBMinDM49KJ2ZvtRsuVhBQU6Jmy8nshKkMpLwBqQxeyocTqq/Hus4oy6pPRBeQ/3vderSScuxTqAlfzCzltzM4XzHUoqiB0FWQpBmIopLDj6AsxJkvSf5ts37q5PM14bSzDJbEDjA/CZNP91W53DOXyTdWORWBFl6QZqJKFwM7WQtyPpwwBmJ33TLlqDFnNt4W8gF6T3D0pmVLDMpAmo7giy9IO867jXlIcg6KnP9pl3zVOpSyC9GR+NzGOM6dKDbJ/RHSPZ7Qe6/tWGT8s8VnT+Neq7O8byXEGTlBdnjUZvnPWvicNFer6sqyAfyI1lEnhxIEbTb6OAjyJIK8nnMdcz6GgRVFaSmbdKtEYZyPu9IiqBdi5sQZAkFaZsy5O1uhlUVZKcYluRkuqwkQJBlFOTDmGt47XPMI0i/BPmCJkKQJRTkDss17PE5CBBkvuwSckNWXZB5Pse3Pbm2lxK/EsdrEGS+7E0Q5ChNhCBLJshTMdemU4JWIkgwmRD79rDsUYMgyyTIgaK+WiPIzjBlae9rNA+CLJEgdbVQ3PLE00UJAgSZLy8s7T1A8yDIkghSV8w8kxKMsyPI/OiV7HeLAwTZaUFqnP8dcz0XihYECDI/bN9gD9M8XtGFIFtC81nGzXcsZCozBJkfl2PaeYam8Y4lludiX4Ge4zwFqbt7Ru3qqfkiC7tTIYLMh26J31Z2I83jHaNSrM3VOi1I3bb4s0TvgLi6yIGAIPNhX0wbX6JpvOSB5bmYLdBznLUgNZ3ZHYleMjsh7pM/I8iSErVPdjt7kEB2nJbkJXrnxa/1w3kLcpnUUgZ+iznnmrIEA4LMni3CBum+ovuoaEYn/ZLsD4keQ4src+Hr9q7wGJrPsNez59i1ILWO1yLEqD1G3XBrU9kCBEFmT9S3ehdolo7TJ+6TP0x69hy3K8jF4QeAxuvbCCnq1q9HpLadSClBkNkSlb3nSRnGZqD03GiIW92L5m44BLGz0zFclDT5Lsp0SQNsYcQrm25MtIJnDwqAZr8/Hn7I9/t2cQiy+JyJeCXZynMHgCCrLsioL2b2E9YACLLqgtSB7VcNdTxJSAMgSAQpclMKsN8vAIJEkHlzoqFu1wllAASJIH/emOgWYQxQbJgH6YYNMj8Zhc4X66ZZABBk1dF5jeYqA00Wyt4yAAiy8ugSK3NLS01K0UuzACDIqqPTeZ4a7aX/JjsPAIKsPNpLNJNQzEqJF+wDIEgE2Uyb3TPaSSeFL6VZABBk1dEkqbeMNnoTlOU0CwCCBJEpmZ8RfBVNAoAgobZksN42H4KyjiYBQJAwP3WZTgjPK7W8jm3uFb/2PwFAkAjyf8aNNvkitX058uJ6eN4N3AYABOkbR4320I2KhnI894j82FsYABCkV4w1tMfOHM+9UmrjnHreI4QpAIL0iV0NbbE7x3Obyxe117qYMAVAkL6wXWr7x9Tb4UCO514n89d2TxGiAAjSF3RTrS9GGxzL+Hz67bTuGDcqtUzk3xvuwSAhCoAgfWCzzM/p2OkyR3gCIEgf0FfbD+JXpvUThCcAguw0+or7TvzbimIF4QmAIDvJMqklnPBNjvcITYDOo/umTMWUsZLXvTEbuE9llNAEgE6hmb+feSpHHQtl7TUAdASVz4z4uw3uWW4RAHSKHvF7n/C13CIAAAAAAACXDHr+GuiyTHO7AQBBIkgAQJAIEgAQJIIEAASJIAEAQSJIAPAcTdz6tSLlOrcbAKL4D/0oFuDcHxmpAAAAqXRFWHRNYXRoTUwAPG1hdGggeG1sbnM9Imh0dHA6Ly93d3cudzMub3JnLzE5OTgvTWF0aC9NYXRoTUwiPjxtc3R5bGUgbWF0aHNpemU9IjE2cHgiPjxtbz4mI3hCMTs8L21vPjxtc3VwPjxtbj4yPC9tbj48bXJvdz48bW8+LTwvbW8+PG1uPjE0OTwvbW4+PC9tcm93PjwvbXN1cD48L21zdHlsZT48L21hdGg+8haNVwAAAABJRU5ErkJggg==\&quot;,\&quot;slideId\&quot;:266,\&quot;accessibleText\&quot;:\&quot;plus-or-minus 2 to the power of negative 149 end exponent\&quot;,\&quot;imageHeight\&quot;:14.88},{\&quot;mathml\&quot;:\&quot;&lt;math style=\\\&quot;font-family:stix;font-size:16px;\\\&quot; xmlns=\\\&quot;http://www.w3.org/1998/Math/MathML\\\&quot;&gt;&lt;mo&gt;&amp;#xB1;&lt;/mo&gt;&lt;mfenced&gt;&lt;mrow&gt;&lt;msup&gt;&lt;mn&gt;2&lt;/mn&gt;&lt;mn&gt;128&lt;/mn&gt;&lt;/msup&gt;&lt;mo&gt;-&lt;/mo&gt;&lt;mn&gt;1&lt;/mn&gt;&lt;/mrow&gt;&lt;/mfenced&gt;&lt;/math&gt;\&quot;,\&quot;base64Image\&quot;:\&quot;iVBORw0KGgoAAAANSUhEUgAAAhUAAAB9CAYAAAAV3JFgAAAACXBIWXMAAA7EAAAOxAGVKw4bAAAABGJhU0UAAABl/fwHSQAAE9tJREFUeNrtnQ+kFtkbxx9XrpXElSRJJEmSSJIklysrSSJJkkSyVpIlP2slWbKuJIlcK0kuSXJlRZIkiZUrK1my1koSV1ZyXZf9vc++827T25znnXnfmXlnzvl8OHbt1sw5z5w5833Pef6IgA9cbLR/EtpMox3EPAAAleBgtC4nrdcXMQ/0m3mNds8xQacabTMmAgCoFFui9Tlp3b4bresApbOg0Z45JuabRluFiQAAKsnqRnvrWL9/bbSFmAjKRCfcC8eEfN1oyzARAEClWRGt10nr+HOEBZTFUKNNOiaiKt+VmAgAoBasFPeOxWS03gMUxmCjPXRMwA+NtgETAQDUik2N9tGxrj9otDmYCIpi3DHxtO3APAAAtWSXsbZfwzxQBN8Zk+405gEAqDWnjTX+OOaBPNliTLb7mAcAwAtcKQJmG20r5oE8UEedP8XtmLkIEwEAeMFCcTtu/iU4bkIOXBX3LsVuzAMA4BW7jTX/OuaBXthhTK5xzAMA4CU3jLV/O+aBbpgrze2upEn1Xjj2AADwlcWN9rdj/dfj8K8wEWTlR0OpnsA8AABeQ8Qf5MbSRpt2TKbfG20AEwEAeM1AtN67KlAvxUSQliuGQt2DeQAAgmCv8S34GfNAGlYak+g55gEACIrn4s5dQTVq6Mg1IYQ0VDE5DzMAQBtWiCkpvMFkWaQ+kybPS8zjJQsa7WL03A+UfG/9lXOy0W5K8+xWixrpWa3686jn+WNpHsXt64Pg2dho30sztO43aRbMm4ns9DH6bxqzf1SIhAL/eWnsVizDPOBi1FCk32Aer5gTfdDfx55xWaJiWyQY/snQ9IN+qdGWFNgvDZNTj/dXGfs2GwmM5Uwr8JRvjPk/inkgiUFxxyX/LcQl+4RuZ/6R8JyLFhVDYifVSdM+RLsDebOz0V633WsyEhnbIzGjuyUrpFnR8XybIPsn2mE5xvSCwL4PH/g+QBJHjIX8AubxgvUddgiKFBWaTOdlj4Ii3i7n2Lf2Hbq3kcjoxHxJjpS6xFQDDzlvvI9HMA+089SYMGswT61ZInaYcNGiQosUZT1SSNMu5tC3sQRBkfWMOOnYkORA4BtrjXfxCeaBOCuEMFIf0S3JU9J0LEzzkS5KVNwvQFC02sEe+vVtwvWGu7xW0g7QFqYgeMak8S6uxDzQ4rQxUb7DPLXkkDR9BMajD+VAJB5/L1lUHE+4z6/Rf9cIi8E2EaQf4hPRn0kjKtSvYUEX/dLjmA9t13rYwzjXJ/RtkmkInkHqbkiFddZNuFD9UH+DW422OuH/7S1RVGioZdy5K62vQothSeeHcaaLvp2V/COcXiRcczPTETximfEeknYA/mWNMUmeYp5aYv1yHypRVJyLXft1lwJVIy5+6SAq3kn2ejR/Sv4lnZP8Vs4yHcEz8L8Dkx+MCfI95vGSMkSFioFWUTr957oerqXHIp2OQ7Zm3EFJusZIj2M+lHDNW0w34JsBqE5UJ6KiN47Frnsyh+tp9s1Zycf3Z7vjGtt67OO+hGveYbqBZxAFAk7mGwv1W8yDqOiBh9E11c9gIKdrWmGxVzNcZ5fjGnt77N9+RAUEwltxZ5edj3nCZY9QKAZRkb+omB+75q4c+z1i9P1mDqKi11LOSZEuN5hu4CHjQuFJSGDMmBj7MQ+ioktaVQ3zDqkcEPfOWhZRsU3cDp9zeuhfUoXfn5hu4CEHpJxst1AzfjMmBsWREBXd0krne7CAvr9w9P16hmsMGjY43kPfknKAjDDdwEOWG+/Qb5gnTOaKHaIHiIpefsXclPx8KeJMOPqedUfAlRlQk2kt7aJfGxKu9SdTDTKiId9navJr/52xlszjUYbHTmNChH4OrNkRj0W/fh802pQ0U11r+W0Nj9RMjFrLQsMFte7DLvk8M2TooqJIbjn6vifjdaywOI2Iylp1caKm9oRqoH5Ip+RTlte/a9Dnm8Y7tINHGh6njAlxMkB7aNEtTTP7l3RXg2Im+uBtrcFY6ywq7jj6viTjdRbKl2m64+1eBmGRlKX0OksMpGBeJHDft82fOoiK/xnvzykebXjcMibE9oDsMD/abZiR/IpcaXGpdRUec51FRVJelW4dQk+meI4LO1xjo3yeiry10zfAEgMGevysiaKmHHOvDqJih+QTjQWe8FY4D9vaw85EpzZbYbVeZ1ExndDvEz1cr1MF1deRcEhiOOEX5g8sLWCgu1+aqO1dh3lXB1GBXx78x2DNJ3MeHBI7Q2NebUKyn88jKpJZIMnHTgt7uKY6xr2QdEXL4rsPJ9rmjzplUuocrDVX58yblOtGXdbh98YYBnns4fC1MRFuBzD+b0oQE/F2V3rLf4CoaLI7oc8XcrjukmhHotNzVPGhqbgfy+c7UmejX20A7eh7fzyDmKibqLhjjGEbjz8crMQlY56PfWfJgqKbNNKIimTGEnYpluR07aWSXLm00y7UKpYTSEB3tb6V7o9X6yIqxqTex6mQExeMiXDY43GvkC+d6lpNExf9KM3w0EXy+Va3buOtjn4pq+3+6HKhOISo6GmRbvcDOp3zPRaLnRAu3tTBbg9LCSTM06Mxgao7WY+ij686hD/2TFQcMsZwiekQDlbkh8/xxUmRA/oR6SbroTp5PskoKvRDtABRkcsOkwq7InxVhqKPQNpnqqm5SfQDLVr+Ob9KM9dNkr/Pzx6JCiJA4F+eGRPB1+3co5J8Hj+Qw3U/ZvgIjSIquuJhW1+LzAei5+DjGZ6p7nKtZVkBaUZ8re7wZxZ5JCpWGmOYZDqEw7QxEXyMr1cnuvYQrjM5Xn+TuOPN29vHCvyyrZuo2FSyMNMdkDHJtgs1LZwhQ/YdjbqLioEO7wQEQIjhpO2Z38YLuIfmLEgbotpvv5W6iYr4ztoTKTaSRn95xf0qdPHP4sB5miUGUnDbE1Eh4vZTI6w0ENYaE+CJh+NVJR33wP6jwJ2CUyk/PP0+a6yTqDgS6586ai4q8F7qiBtP3f0gmiuadfVKBmGBgxp04pZHosJyPl3Ho/af0Bxr2h38ioydHkz5q7bfC0ZdRMXS2K8gPTbaUOC92guMJdX+2C52Jtp4u8hSA4GIilAd/yFinzEBrnj+8paR2OtEyo9OP7cF6yAqdIcpHl2zs8B7tXvj63GLK5mVRu/cSPmMj7LcQACi4qoxjr08av85akyA856NVc/eW4XC1N+hjMiWhZLOt2IYUWFyLtavgwXe53KbDd5HOySd2C+do36mheRY4L+oCDXvEURckuonZ8qLXdKfjJZPU4iKflaCrbqo2C/5FAvrxHcJNjie4e+rf1Kn9N73WHLAc1FBAqwYViSEr2eilsPZPs/GGv+1W+YvxjTJbRAVyWyO7QAUGUmhuQTad5RUIGQNqdYsnC87POv1fEPBY1ER2pE6oqIN6zx4p2djbSVMulvyfY+kEBVfIyq+QIXfu5Lev6RF/VyX11rcYcfiMt9Q8FhUWPWUbiAq/BcVExX90BW1K/NKyq+WtyeFqFiDqPiMeKXQawXfa7Hk76m+0bDra76h4LGo2C5hV70OXlTcNca8lXc9F3Z1WDB0272fmUurJio090SrSNtECfdznQH3mr/kvGHbRbwW4KmoGDbG8Quiwn9RYaWHXca7XoqoeNHn/lVJVGiI5vPo/vel2GyZLZJC4GZyuO5ScUf+fM1rAZ6KiqXGOF4iKvwXFe+MMVNtMR92d1gwrva5f1URFZqpshUp87jE+TdR4CL+wGHb3bwW4KmomGeM4x2iwn9RQZ724jnQYcHod0KYKogKzVbZcqTVaoZDJd77ToGL+BkhCRCEJSpCrCeFqIjxwRjzHN71Qj8srW32rwIXFTrPWr496kuxMOfra8G44YyiIq+Kiq7wup28FuCpqJhjjOMDosJ/UWGVPYf8PmouG1+vQP/6LSpaFRo1KmJJztc+HF17ZRfPJ4+dOpc/zWZeC/BUVFhrSnDlzxEViIoisJxht1Z4AShDVFyXTxVHV+Z8bQ3T1cRZjzr8ue8d488j9Dhpp0J3pwZ4LQBRgajwkRlERaFYTkvPKr4AFC0qWnU2tL5G3lkmNUPmG0lXb2CDY/x5ZPD8X8J17/NaAKICUeGrqPgHUVEoVuTHrgr0b6BPomJUPpUw35Lj+6s7Pz/Jpx04vX4an5XJhPG/yqFP96X6JeUBUVHWd2UWUYGogN5w1VZ5WpH+LTKef1HVQE9JulLhebS0KbFdqYV7Kaq3XJJzknD0AaGKiuC+K4gKREWezBF3yO6GivRxr/H8Rwu437ESBYW2TRn6dj3h76uvR7fOo3d67A8gKnwTFTOhPdgQRcUsoqIwDjrs+nOF+vhQyst+d7BkQfFbxv7pMcmjhOs8l+xptU8nXOcwrwQELirwqRCiP6B7njh++S6oSP9+SvFhviT5bNfvlnIFhbYTXfRTHWt/SbiWOn2myS2hz7b9yGsWQQGICkQFogJ6YbPkX/myF3TbXUMk1Tn0rHwq2JWm6Z8djYSBXmOLZEuhrVULZ0oWFPoh7yWJ1knHu/E8+n86piWRHVZFdtU14kPCbskGXgdAVCAqSNNNmu5eeCzdOw3mzYICPtpZ3od7fdilyKPEshZGuiDNCJKs91fxcURwyoTwRAVpugMXFe+NMX/Fu94VSVkUnyHSasuc6Jmej8TK20hoTEftfSQi1dHzm2jnAiBUUTHXGMdUVTo50odfOv1qt0q2LVVK83+h2o8W1MaUkQeAEETFfGMcbxEV/ouK+5JPOB40GZUvz/aHMQsABCIq1hnjeIyo8F9U3DH6so13PRNJzpl4/UNZjHm+Nvp8fOiTqNhmjGMCUeG/qLhp9GUH63RqhhrtT8m/dgQAogJRUSdRscMYx01Ehf+i4prRlz2s06m53Wa7MUwCiApERYCiYo8xjmuICv9FxWUpv/aDb/zQZrcbmAQQFYiKQEWFlTn3clU6iagoDqsWw1nW6cxbfROYBBAViIqARYVVMPB4aC9liHkq9hljvsI6bbJePk8edleaOQ0AEBWIilBFxRVjHPsQFf6Lilo41VQQzTvxJmYrLURFsjBAVCAqQhcVOP8HLirWGmN+wjqdiNaUeNVmJxKFAQCiQuSBMY51iAr/RQV52rOhoaOTMRvpvy/ALACAqPgX6kkFLioUq1IpBZE+obsR8UJhL6W3SpgAAD6JigGhQimiosFTY9xreN//mxvxapua6GoxZgEARMV/rDLG8AxREY6oGDfGvYv3/V/1PRGzyWtplsUGAEBUfGKXMYZxREU4ouKsEFecVnRplb2VmAQAEBVf8K2Q9whR0WCvMe6rgb/s8TC9KWlGywAAICq+5Koxhr2IinBExUZj3I8CftFH217qjSXdV301DghOsgCIinqJCiucdAOiIhxRoR+vWcFjN0481ezHRttS4r1vRPddz1oLgKiokahwRRLOhvojKVRRoTw3xh6aD8Hx2NhnGm1bifduVfh7zjoLgKiokahYbvR/MtQHG7KooAR6k0NtY99Z8ks5Fd33GOssAKKiRqKiFiXPERXlccQY+4VAnv9u6V/xm3jqb90dGWKdBUBU1EhUjBr9P4qoCE9UrJewnTW3y+d+JUdKvPda+byWyLgAAKKiXqLiodH/YP3DQhYV6kTjcrLRX84+l/QelqYzZmu8J0qw9Qpphljdli+dZEdYYwGCYqLmomJO9J1I6vvHkB9syKJCog+ca/zbPB3zJrEL4JTd/mB9BQiOlzUXFSNG328hKsIVFd8Z4z/j4Xj12GGqQoJC2w+srwBBMVfcIf11Cck8bfT9RMgPN3RRsdYY/6+ejVWPH95WTFBoW8YaCxAUh1OuDcMVHoNVlHI1oiJcUaG8MZSyLxEJS6RZFKxqguIe6ytAUMyTz52067g+DBl9fh36A1Znk3FHOxSIDcaMCXLQg/EtzPASl932CgCEwiKxIyZcP26rdgxywOjvZR4z7DAmyO2aj22B2JlD+9mmhFofAL4zFK2xKg4+SPfO3FpGQJ3nByswphsSnoM/ZEA/bO/FHVo6t8bjelpRQaHtPFMPwDs2S/NIWX80TBe0dkxH19f7lJ39eFDcoaT8UIL/+Fn8OwIZrLCg0LaGaQfgHSMlryMHSh6fdfQxxuOHFluMiXIf8wAAQIO7xrdiC+aBOC5nRo0CWYp5AACCZom482u8qnrny95C6merSvaxk0YfT/M+AQAEzSnjG3ESUYGoaEdDL10OOH8JDjgAAKEyEH0HXA79CxEViIokLkl1HIIAAKAa7De+DZfqMABERX9YZfRzkvcKACBInhnfhlWICkSFhVW5lBLdAABhYX2Pb/owCERFsawx+vqU9wsAICieiAfFw7Q623Qg7UYF7T9uTKKdvGMAAEFglXG4jnkgLcvFHQnyUogEAQDwHV3nX4g74mMZJoIsnJUaxyQDAEBPnBByF0GOaCExV1zy3422GBMBAHjJomidd1VN/QoTQTdsFw+8fgEAIBNWefOvMQ/0wlVjcu3GPAAAXrHHWPOvYB7olXniLjY2Jc0iMwAAUH8WReu669hjHiaCPFgv7miQR5gHAMALHog72mMD5oE8OSruLbFRzAMAUGtGjTX+COaBIqDgGACAfxyQmhcMg/ryi7i3x4YxDwBArdgq7uPtu5gHikYddR6J23GTczcAgHqwTtyOmY8Fx0woiSFxF5l522hrMREAQKVZG63XSev4k2idByiN+ZGSTZqQ74QdCwCAqrI+WqddOxTzMRH0A03VOiHuVN4jmAgAoFKMiDsF94SQghsqwDlxl3Y/hHkAACrBYWOtPufDAP8PhsImVcJNiIgAAADGdEVYdE1hdGhNTAA8bWF0aCB4bWxucz0iaHR0cDovL3d3dy53My5vcmcvMTk5OC9NYXRoL01hdGhNTCI+PG1zdHlsZSBtYXRoc2l6ZT0iMTZweCI+PG1vPiYjeEIxOzwvbW8+PG1mZW5jZWQ+PG1yb3c+PG1zdXA+PG1uPjI8L21uPjxtbj4xMjg8L21uPjwvbXN1cD48bW8+LTwvbW8+PG1uPjE8L21uPjwvbXJvdz48L21mZW5jZWQ+PC9tc3R5bGU+PC9tYXRoPiPbOoEAAAAASUVORK5CYII=\&quot;,\&quot;slideId\&quot;:266,\&quot;accessibleText\&quot;:\&quot;plus-or-minus open parentheses 2 to the power of 128 minus 1 close parentheses\&quot;,\&quot;imageHeight\&quot;:2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463</TotalTime>
  <Words>1743</Words>
  <Application>Microsoft Office PowerPoint</Application>
  <PresentationFormat>Geniş ekran</PresentationFormat>
  <Paragraphs>132</Paragraphs>
  <Slides>12</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12</vt:i4>
      </vt:variant>
    </vt:vector>
  </HeadingPairs>
  <TitlesOfParts>
    <vt:vector size="17" baseType="lpstr">
      <vt:lpstr>Aptos</vt:lpstr>
      <vt:lpstr>Aptos Display</vt:lpstr>
      <vt:lpstr>Arial</vt:lpstr>
      <vt:lpstr>Wingdings</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BURAK KÜRKLÜ</dc:creator>
  <cp:lastModifiedBy>HAKAN SARI</cp:lastModifiedBy>
  <cp:revision>13</cp:revision>
  <dcterms:created xsi:type="dcterms:W3CDTF">2026-01-04T12:36:40Z</dcterms:created>
  <dcterms:modified xsi:type="dcterms:W3CDTF">2026-02-18T12:40:31Z</dcterms:modified>
</cp:coreProperties>
</file>